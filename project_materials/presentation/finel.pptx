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Calibri (MS) Bold" panose="020B0604020202020204" charset="0"/>
      <p:regular r:id="rId14"/>
    </p:embeddedFont>
    <p:embeddedFont>
      <p:font typeface="Garamond Bold" panose="02020804030307010803" pitchFamily="18" charset="0"/>
      <p:regular r:id="rId15"/>
      <p:bold r:id="rId16"/>
    </p:embeddedFont>
    <p:embeddedFont>
      <p:font typeface="Times New Roman Bold" panose="020208030705050203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4F7AF7-A8CB-47F0-8A2B-0B682C33C2F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F90A4-546E-4F03-AFD0-5F4495991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14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F90A4-546E-4F03-AFD0-5F4495991FE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62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F90A4-546E-4F03-AFD0-5F4495991FE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462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F90A4-546E-4F03-AFD0-5F4495991FE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448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sv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26.svg"/><Relationship Id="rId7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Relationship Id="rId4" Type="http://schemas.openxmlformats.org/officeDocument/2006/relationships/image" Target="../media/image2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11749876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ink.springer.com/article/10.1186/s12913-024-12146-x" TargetMode="External"/><Relationship Id="rId5" Type="http://schemas.openxmlformats.org/officeDocument/2006/relationships/hyperlink" Target="https://www.ncbi.nlm.nih.gov/pmc/articles/PMC5941472/" TargetMode="External"/><Relationship Id="rId10" Type="http://schemas.openxmlformats.org/officeDocument/2006/relationships/image" Target="../media/image22.jpeg"/><Relationship Id="rId4" Type="http://schemas.openxmlformats.org/officeDocument/2006/relationships/hyperlink" Target="https://www.who.int/news-room/fact-sheets/detail/dementia" TargetMode="External"/><Relationship Id="rId9" Type="http://schemas.openxmlformats.org/officeDocument/2006/relationships/hyperlink" Target="https://games.jmir.org/2022/1/e3459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5222" y="1277283"/>
            <a:ext cx="6953193" cy="7732366"/>
            <a:chOff x="0" y="0"/>
            <a:chExt cx="6953199" cy="7732370"/>
          </a:xfrm>
        </p:grpSpPr>
        <p:sp>
          <p:nvSpPr>
            <p:cNvPr id="3" name="Freeform 3"/>
            <p:cNvSpPr/>
            <p:nvPr/>
          </p:nvSpPr>
          <p:spPr>
            <a:xfrm>
              <a:off x="-63" y="0"/>
              <a:ext cx="6953317" cy="7732399"/>
            </a:xfrm>
            <a:custGeom>
              <a:avLst/>
              <a:gdLst/>
              <a:ahLst/>
              <a:cxnLst/>
              <a:rect l="l" t="t" r="r" b="b"/>
              <a:pathLst>
                <a:path w="6953317" h="7732399">
                  <a:moveTo>
                    <a:pt x="2801050" y="855092"/>
                  </a:moveTo>
                  <a:cubicBezTo>
                    <a:pt x="2640522" y="855092"/>
                    <a:pt x="2496122" y="968757"/>
                    <a:pt x="2415985" y="1153542"/>
                  </a:cubicBezTo>
                  <a:cubicBezTo>
                    <a:pt x="2145729" y="1776731"/>
                    <a:pt x="1934655" y="2263522"/>
                    <a:pt x="1769682" y="2644015"/>
                  </a:cubicBezTo>
                  <a:lnTo>
                    <a:pt x="1751394" y="2686052"/>
                  </a:lnTo>
                  <a:lnTo>
                    <a:pt x="1781239" y="2702562"/>
                  </a:lnTo>
                  <a:cubicBezTo>
                    <a:pt x="1795082" y="2707642"/>
                    <a:pt x="1809687" y="2710309"/>
                    <a:pt x="1824673" y="2710309"/>
                  </a:cubicBezTo>
                  <a:lnTo>
                    <a:pt x="2746566" y="2710309"/>
                  </a:lnTo>
                  <a:cubicBezTo>
                    <a:pt x="2804225" y="2710309"/>
                    <a:pt x="2859978" y="2668018"/>
                    <a:pt x="2887918" y="2599311"/>
                  </a:cubicBezTo>
                  <a:cubicBezTo>
                    <a:pt x="3349817" y="1538606"/>
                    <a:pt x="3349817" y="1538606"/>
                    <a:pt x="3349817" y="1538606"/>
                  </a:cubicBezTo>
                  <a:cubicBezTo>
                    <a:pt x="3379662" y="1472566"/>
                    <a:pt x="3379662" y="1387857"/>
                    <a:pt x="3349817" y="1321690"/>
                  </a:cubicBezTo>
                  <a:cubicBezTo>
                    <a:pt x="3284920" y="1172592"/>
                    <a:pt x="3229040" y="1044449"/>
                    <a:pt x="3181034" y="934213"/>
                  </a:cubicBezTo>
                  <a:lnTo>
                    <a:pt x="3146617" y="855092"/>
                  </a:lnTo>
                  <a:close/>
                  <a:moveTo>
                    <a:pt x="408622" y="4687700"/>
                  </a:moveTo>
                  <a:cubicBezTo>
                    <a:pt x="369633" y="4687700"/>
                    <a:pt x="334581" y="4715386"/>
                    <a:pt x="315023" y="4760217"/>
                  </a:cubicBezTo>
                  <a:cubicBezTo>
                    <a:pt x="14668" y="5452875"/>
                    <a:pt x="14668" y="5452875"/>
                    <a:pt x="14668" y="5452875"/>
                  </a:cubicBezTo>
                  <a:cubicBezTo>
                    <a:pt x="-4890" y="5496055"/>
                    <a:pt x="-4890" y="5551300"/>
                    <a:pt x="14668" y="5594480"/>
                  </a:cubicBezTo>
                  <a:cubicBezTo>
                    <a:pt x="315023" y="6287012"/>
                    <a:pt x="315023" y="6287012"/>
                    <a:pt x="315023" y="6287012"/>
                  </a:cubicBezTo>
                  <a:cubicBezTo>
                    <a:pt x="334581" y="6331970"/>
                    <a:pt x="369633" y="6359529"/>
                    <a:pt x="408622" y="6359529"/>
                  </a:cubicBezTo>
                  <a:lnTo>
                    <a:pt x="1010603" y="6359529"/>
                  </a:lnTo>
                  <a:cubicBezTo>
                    <a:pt x="1048322" y="6359529"/>
                    <a:pt x="1084644" y="6331843"/>
                    <a:pt x="1102932" y="6287012"/>
                  </a:cubicBezTo>
                  <a:cubicBezTo>
                    <a:pt x="1404557" y="5594481"/>
                    <a:pt x="1404557" y="5594481"/>
                    <a:pt x="1404557" y="5594481"/>
                  </a:cubicBezTo>
                  <a:cubicBezTo>
                    <a:pt x="1424115" y="5551301"/>
                    <a:pt x="1424115" y="5496056"/>
                    <a:pt x="1404557" y="5452876"/>
                  </a:cubicBezTo>
                  <a:cubicBezTo>
                    <a:pt x="1102932" y="4760344"/>
                    <a:pt x="1102932" y="4760344"/>
                    <a:pt x="1102932" y="4760344"/>
                  </a:cubicBezTo>
                  <a:cubicBezTo>
                    <a:pt x="1084771" y="4715386"/>
                    <a:pt x="1048322" y="4687827"/>
                    <a:pt x="1010603" y="4687827"/>
                  </a:cubicBezTo>
                  <a:close/>
                  <a:moveTo>
                    <a:pt x="1769936" y="0"/>
                  </a:moveTo>
                  <a:cubicBezTo>
                    <a:pt x="1702499" y="0"/>
                    <a:pt x="1641920" y="47752"/>
                    <a:pt x="1608011" y="125476"/>
                  </a:cubicBezTo>
                  <a:cubicBezTo>
                    <a:pt x="1089216" y="1321944"/>
                    <a:pt x="1089216" y="1321944"/>
                    <a:pt x="1089216" y="1321944"/>
                  </a:cubicBezTo>
                  <a:cubicBezTo>
                    <a:pt x="1055561" y="1396493"/>
                    <a:pt x="1055561" y="1491997"/>
                    <a:pt x="1089216" y="1566673"/>
                  </a:cubicBezTo>
                  <a:cubicBezTo>
                    <a:pt x="1608011" y="2763141"/>
                    <a:pt x="1608011" y="2763141"/>
                    <a:pt x="1608011" y="2763141"/>
                  </a:cubicBezTo>
                  <a:cubicBezTo>
                    <a:pt x="1624902" y="2801876"/>
                    <a:pt x="1648397" y="2833245"/>
                    <a:pt x="1676210" y="2854835"/>
                  </a:cubicBezTo>
                  <a:lnTo>
                    <a:pt x="1677607" y="2855597"/>
                  </a:lnTo>
                  <a:lnTo>
                    <a:pt x="1638999" y="2944751"/>
                  </a:lnTo>
                  <a:cubicBezTo>
                    <a:pt x="1180275" y="4002534"/>
                    <a:pt x="1180275" y="4002534"/>
                    <a:pt x="1180275" y="4002534"/>
                  </a:cubicBezTo>
                  <a:cubicBezTo>
                    <a:pt x="1100138" y="4180081"/>
                    <a:pt x="1100138" y="4407411"/>
                    <a:pt x="1180275" y="4585084"/>
                  </a:cubicBezTo>
                  <a:cubicBezTo>
                    <a:pt x="2415604" y="7433949"/>
                    <a:pt x="2415604" y="7433949"/>
                    <a:pt x="2415604" y="7433949"/>
                  </a:cubicBezTo>
                  <a:cubicBezTo>
                    <a:pt x="2495741" y="7618734"/>
                    <a:pt x="2640141" y="7732399"/>
                    <a:pt x="2800669" y="7732399"/>
                  </a:cubicBezTo>
                  <a:lnTo>
                    <a:pt x="5277043" y="7732399"/>
                  </a:lnTo>
                  <a:cubicBezTo>
                    <a:pt x="5432237" y="7732399"/>
                    <a:pt x="5581970" y="7618734"/>
                    <a:pt x="5656773" y="7433949"/>
                  </a:cubicBezTo>
                  <a:cubicBezTo>
                    <a:pt x="6897564" y="4584957"/>
                    <a:pt x="6897564" y="4584957"/>
                    <a:pt x="6897564" y="4584957"/>
                  </a:cubicBezTo>
                  <a:cubicBezTo>
                    <a:pt x="6926774" y="4520313"/>
                    <a:pt x="6945316" y="4449066"/>
                    <a:pt x="6953317" y="4376041"/>
                  </a:cubicBezTo>
                  <a:lnTo>
                    <a:pt x="6953317" y="4211450"/>
                  </a:lnTo>
                  <a:cubicBezTo>
                    <a:pt x="6945443" y="4138425"/>
                    <a:pt x="6926774" y="4067177"/>
                    <a:pt x="6897564" y="4002407"/>
                  </a:cubicBezTo>
                  <a:cubicBezTo>
                    <a:pt x="5656773" y="1153414"/>
                    <a:pt x="5656773" y="1153414"/>
                    <a:pt x="5656773" y="1153414"/>
                  </a:cubicBezTo>
                  <a:cubicBezTo>
                    <a:pt x="5581970" y="968629"/>
                    <a:pt x="5432110" y="854964"/>
                    <a:pt x="5277043" y="854964"/>
                  </a:cubicBezTo>
                  <a:lnTo>
                    <a:pt x="3288730" y="854964"/>
                  </a:lnTo>
                  <a:lnTo>
                    <a:pt x="3313876" y="912749"/>
                  </a:lnTo>
                  <a:cubicBezTo>
                    <a:pt x="3363787" y="1027176"/>
                    <a:pt x="3420683" y="1158114"/>
                    <a:pt x="3485834" y="1307593"/>
                  </a:cubicBezTo>
                  <a:cubicBezTo>
                    <a:pt x="3519489" y="1382142"/>
                    <a:pt x="3519489" y="1477646"/>
                    <a:pt x="3485834" y="1552322"/>
                  </a:cubicBezTo>
                  <a:cubicBezTo>
                    <a:pt x="3485834" y="1552322"/>
                    <a:pt x="3485834" y="1552322"/>
                    <a:pt x="2964753" y="2748790"/>
                  </a:cubicBezTo>
                  <a:cubicBezTo>
                    <a:pt x="2933384" y="2826387"/>
                    <a:pt x="2870519" y="2874139"/>
                    <a:pt x="2805368" y="2874139"/>
                  </a:cubicBezTo>
                  <a:lnTo>
                    <a:pt x="1765364" y="2874139"/>
                  </a:lnTo>
                  <a:cubicBezTo>
                    <a:pt x="1748473" y="2874139"/>
                    <a:pt x="1732090" y="2871218"/>
                    <a:pt x="1716469" y="2865503"/>
                  </a:cubicBezTo>
                  <a:lnTo>
                    <a:pt x="1687513" y="2849374"/>
                  </a:lnTo>
                  <a:lnTo>
                    <a:pt x="1715453" y="2784984"/>
                  </a:lnTo>
                  <a:lnTo>
                    <a:pt x="1752918" y="2698497"/>
                  </a:lnTo>
                  <a:lnTo>
                    <a:pt x="1745933" y="2694561"/>
                  </a:lnTo>
                  <a:cubicBezTo>
                    <a:pt x="1721295" y="2675383"/>
                    <a:pt x="1700467" y="2647570"/>
                    <a:pt x="1685481" y="2613280"/>
                  </a:cubicBezTo>
                  <a:cubicBezTo>
                    <a:pt x="1685481" y="2613280"/>
                    <a:pt x="1685481" y="2613280"/>
                    <a:pt x="1225487" y="1552576"/>
                  </a:cubicBezTo>
                  <a:cubicBezTo>
                    <a:pt x="1195642" y="1486536"/>
                    <a:pt x="1195642" y="1401827"/>
                    <a:pt x="1225487" y="1335660"/>
                  </a:cubicBezTo>
                  <a:cubicBezTo>
                    <a:pt x="1225487" y="1335660"/>
                    <a:pt x="1225487" y="1335660"/>
                    <a:pt x="1685481" y="274955"/>
                  </a:cubicBezTo>
                  <a:cubicBezTo>
                    <a:pt x="1715326" y="206248"/>
                    <a:pt x="1769047" y="163957"/>
                    <a:pt x="1828864" y="163957"/>
                  </a:cubicBezTo>
                  <a:lnTo>
                    <a:pt x="2750758" y="163957"/>
                  </a:lnTo>
                  <a:cubicBezTo>
                    <a:pt x="2808415" y="163957"/>
                    <a:pt x="2864169" y="206248"/>
                    <a:pt x="2892109" y="274955"/>
                  </a:cubicBezTo>
                  <a:cubicBezTo>
                    <a:pt x="2892109" y="274955"/>
                    <a:pt x="2892109" y="274955"/>
                    <a:pt x="3086927" y="722376"/>
                  </a:cubicBezTo>
                  <a:lnTo>
                    <a:pt x="3137981" y="839470"/>
                  </a:lnTo>
                  <a:lnTo>
                    <a:pt x="3280221" y="839470"/>
                  </a:lnTo>
                  <a:lnTo>
                    <a:pt x="3248725" y="767081"/>
                  </a:lnTo>
                  <a:cubicBezTo>
                    <a:pt x="2969325" y="125349"/>
                    <a:pt x="2969325" y="125349"/>
                    <a:pt x="2969325" y="125349"/>
                  </a:cubicBezTo>
                  <a:cubicBezTo>
                    <a:pt x="2937829" y="47752"/>
                    <a:pt x="2874963" y="0"/>
                    <a:pt x="2809813" y="0"/>
                  </a:cubicBezTo>
                  <a:close/>
                </a:path>
              </a:pathLst>
            </a:custGeom>
            <a:solidFill>
              <a:srgbClr val="38B6FF">
                <a:alpha val="1961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398789" y="4532433"/>
            <a:ext cx="4805267" cy="5138309"/>
            <a:chOff x="0" y="0"/>
            <a:chExt cx="6407023" cy="685107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07023" cy="6851015"/>
            </a:xfrm>
            <a:custGeom>
              <a:avLst/>
              <a:gdLst/>
              <a:ahLst/>
              <a:cxnLst/>
              <a:rect l="l" t="t" r="r" b="b"/>
              <a:pathLst>
                <a:path w="6407023" h="6851015">
                  <a:moveTo>
                    <a:pt x="0" y="0"/>
                  </a:moveTo>
                  <a:lnTo>
                    <a:pt x="6407023" y="0"/>
                  </a:lnTo>
                  <a:lnTo>
                    <a:pt x="6407023" y="6851015"/>
                  </a:lnTo>
                  <a:lnTo>
                    <a:pt x="0" y="6851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50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14070" y="2153583"/>
            <a:ext cx="114300" cy="114300"/>
            <a:chOff x="0" y="0"/>
            <a:chExt cx="114300" cy="114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14070" y="3020358"/>
            <a:ext cx="114300" cy="114300"/>
            <a:chOff x="0" y="0"/>
            <a:chExt cx="114300" cy="114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14070" y="6439833"/>
            <a:ext cx="114300" cy="114300"/>
            <a:chOff x="0" y="0"/>
            <a:chExt cx="114300" cy="114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423"/>
                    <a:pt x="4318" y="78994"/>
                  </a:cubicBezTo>
                  <a:cubicBezTo>
                    <a:pt x="2794" y="75565"/>
                    <a:pt x="1778" y="72009"/>
                    <a:pt x="1016" y="68326"/>
                  </a:cubicBezTo>
                  <a:cubicBezTo>
                    <a:pt x="254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14070" y="7354233"/>
            <a:ext cx="114300" cy="114300"/>
            <a:chOff x="0" y="0"/>
            <a:chExt cx="114300" cy="114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423"/>
                    <a:pt x="4318" y="78994"/>
                  </a:cubicBezTo>
                  <a:cubicBezTo>
                    <a:pt x="2794" y="75565"/>
                    <a:pt x="1778" y="72009"/>
                    <a:pt x="1016" y="68326"/>
                  </a:cubicBezTo>
                  <a:cubicBezTo>
                    <a:pt x="254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14070" y="8268633"/>
            <a:ext cx="114300" cy="114300"/>
            <a:chOff x="0" y="0"/>
            <a:chExt cx="114300" cy="114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423"/>
                    <a:pt x="4318" y="78994"/>
                  </a:cubicBezTo>
                  <a:cubicBezTo>
                    <a:pt x="2794" y="75565"/>
                    <a:pt x="1778" y="72009"/>
                    <a:pt x="1016" y="68326"/>
                  </a:cubicBezTo>
                  <a:cubicBezTo>
                    <a:pt x="254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042645" y="5515908"/>
            <a:ext cx="95250" cy="95250"/>
            <a:chOff x="0" y="0"/>
            <a:chExt cx="95250" cy="95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4670129" y="2248"/>
            <a:ext cx="3373745" cy="1593504"/>
            <a:chOff x="0" y="0"/>
            <a:chExt cx="4498327" cy="21246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98340" cy="2124710"/>
            </a:xfrm>
            <a:custGeom>
              <a:avLst/>
              <a:gdLst/>
              <a:ahLst/>
              <a:cxnLst/>
              <a:rect l="l" t="t" r="r" b="b"/>
              <a:pathLst>
                <a:path w="4498340" h="212471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52730" y="9009736"/>
            <a:ext cx="1320060" cy="1229439"/>
            <a:chOff x="0" y="0"/>
            <a:chExt cx="1760080" cy="16392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59966" cy="1639316"/>
            </a:xfrm>
            <a:custGeom>
              <a:avLst/>
              <a:gdLst/>
              <a:ahLst/>
              <a:cxnLst/>
              <a:rect l="l" t="t" r="r" b="b"/>
              <a:pathLst>
                <a:path w="1759966" h="1639316">
                  <a:moveTo>
                    <a:pt x="819658" y="0"/>
                  </a:moveTo>
                  <a:cubicBezTo>
                    <a:pt x="366903" y="0"/>
                    <a:pt x="0" y="366903"/>
                    <a:pt x="0" y="819658"/>
                  </a:cubicBezTo>
                  <a:cubicBezTo>
                    <a:pt x="0" y="1272413"/>
                    <a:pt x="366903" y="1639189"/>
                    <a:pt x="819404" y="1639316"/>
                  </a:cubicBezTo>
                  <a:lnTo>
                    <a:pt x="940562" y="1639316"/>
                  </a:lnTo>
                  <a:cubicBezTo>
                    <a:pt x="1393190" y="1639189"/>
                    <a:pt x="1759966" y="1272286"/>
                    <a:pt x="1759966" y="819658"/>
                  </a:cubicBezTo>
                  <a:cubicBezTo>
                    <a:pt x="1759966" y="367030"/>
                    <a:pt x="1393063" y="0"/>
                    <a:pt x="940435" y="0"/>
                  </a:cubicBezTo>
                  <a:close/>
                </a:path>
              </a:pathLst>
            </a:custGeom>
            <a:blipFill>
              <a:blip r:embed="rId5">
                <a:alphaModFix amt="75999"/>
              </a:blip>
              <a:stretch>
                <a:fillRect t="-2841" r="-134" b="-2956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8485165" y="1277283"/>
            <a:ext cx="6957908" cy="7732452"/>
            <a:chOff x="0" y="0"/>
            <a:chExt cx="6957911" cy="773244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957952" cy="7732388"/>
            </a:xfrm>
            <a:custGeom>
              <a:avLst/>
              <a:gdLst/>
              <a:ahLst/>
              <a:cxnLst/>
              <a:rect l="l" t="t" r="r" b="b"/>
              <a:pathLst>
                <a:path w="6957952" h="7732388">
                  <a:moveTo>
                    <a:pt x="0" y="7732388"/>
                  </a:moveTo>
                  <a:lnTo>
                    <a:pt x="6957952" y="7732388"/>
                  </a:lnTo>
                  <a:lnTo>
                    <a:pt x="69579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2432618" y="524027"/>
            <a:ext cx="12347038" cy="1033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INDIA HACKATHON 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99820" y="5945762"/>
            <a:ext cx="5481980" cy="2640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 </a:t>
            </a:r>
          </a:p>
          <a:p>
            <a:pPr algn="l">
              <a:lnSpc>
                <a:spcPts val="7200"/>
              </a:lnSpc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ID- 162623 </a:t>
            </a:r>
          </a:p>
          <a:p>
            <a:pPr algn="l">
              <a:lnSpc>
                <a:spcPts val="7200"/>
              </a:lnSpc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COGNOVAX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9820" y="1726187"/>
            <a:ext cx="13627551" cy="4077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25"/>
              </a:lnSpc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26003</a:t>
            </a:r>
          </a:p>
          <a:p>
            <a:pPr algn="just">
              <a:lnSpc>
                <a:spcPts val="6525"/>
              </a:lnSpc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– AI-Based Cognitive Gaming and Memory Assistance Platform For Elderly Dementia Patients in North Eastern Region [NER] </a:t>
            </a:r>
          </a:p>
          <a:p>
            <a:pPr algn="just">
              <a:lnSpc>
                <a:spcPts val="6525"/>
              </a:lnSpc>
            </a:pPr>
            <a:r>
              <a:rPr lang="en-US" sz="3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Theme- MedTech / </a:t>
            </a:r>
            <a:r>
              <a:rPr lang="en-US" sz="30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BioTech</a:t>
            </a:r>
            <a:r>
              <a:rPr lang="en-US" sz="3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/ HealthTech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6">
            <a:extLst>
              <a:ext uri="{FF2B5EF4-FFF2-40B4-BE49-F238E27FC236}">
                <a16:creationId xmlns:a16="http://schemas.microsoft.com/office/drawing/2014/main" id="{2C6738E1-E229-4B8F-0157-31D2931677B1}"/>
              </a:ext>
            </a:extLst>
          </p:cNvPr>
          <p:cNvGrpSpPr/>
          <p:nvPr/>
        </p:nvGrpSpPr>
        <p:grpSpPr>
          <a:xfrm>
            <a:off x="0" y="9890808"/>
            <a:ext cx="18288000" cy="396192"/>
            <a:chOff x="0" y="0"/>
            <a:chExt cx="18288000" cy="396189"/>
          </a:xfrm>
        </p:grpSpPr>
        <p:sp>
          <p:nvSpPr>
            <p:cNvPr id="113" name="Freeform 7">
              <a:extLst>
                <a:ext uri="{FF2B5EF4-FFF2-40B4-BE49-F238E27FC236}">
                  <a16:creationId xmlns:a16="http://schemas.microsoft.com/office/drawing/2014/main" id="{360F1C6C-757D-5B93-2F2F-58B8ED4D15E6}"/>
                </a:ext>
              </a:extLst>
            </p:cNvPr>
            <p:cNvSpPr/>
            <p:nvPr/>
          </p:nvSpPr>
          <p:spPr>
            <a:xfrm>
              <a:off x="0" y="0"/>
              <a:ext cx="18288000" cy="396237"/>
            </a:xfrm>
            <a:custGeom>
              <a:avLst/>
              <a:gdLst/>
              <a:ahLst/>
              <a:cxnLst/>
              <a:rect l="l" t="t" r="r" b="b"/>
              <a:pathLst>
                <a:path w="18288000" h="396237">
                  <a:moveTo>
                    <a:pt x="0" y="0"/>
                  </a:moveTo>
                  <a:lnTo>
                    <a:pt x="0" y="396237"/>
                  </a:lnTo>
                  <a:lnTo>
                    <a:pt x="18288000" y="396237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14" name="TextBox 25">
            <a:extLst>
              <a:ext uri="{FF2B5EF4-FFF2-40B4-BE49-F238E27FC236}">
                <a16:creationId xmlns:a16="http://schemas.microsoft.com/office/drawing/2014/main" id="{00C420FB-3D14-2005-6A63-5E658D0F9AFD}"/>
              </a:ext>
            </a:extLst>
          </p:cNvPr>
          <p:cNvSpPr txBox="1"/>
          <p:nvPr/>
        </p:nvSpPr>
        <p:spPr>
          <a:xfrm>
            <a:off x="7711897" y="9873729"/>
            <a:ext cx="2375097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670129" y="2248"/>
            <a:ext cx="3373745" cy="1593504"/>
            <a:chOff x="0" y="0"/>
            <a:chExt cx="4498327" cy="21246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98340" cy="2124710"/>
            </a:xfrm>
            <a:custGeom>
              <a:avLst/>
              <a:gdLst/>
              <a:ahLst/>
              <a:cxnLst/>
              <a:rect l="l" t="t" r="r" b="b"/>
              <a:pathLst>
                <a:path w="4498340" h="212471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08709" y="177089"/>
            <a:ext cx="1841487" cy="1243813"/>
          </a:xfrm>
          <a:custGeom>
            <a:avLst/>
            <a:gdLst/>
            <a:ahLst/>
            <a:cxnLst/>
            <a:rect l="l" t="t" r="r" b="b"/>
            <a:pathLst>
              <a:path w="1841487" h="1243813">
                <a:moveTo>
                  <a:pt x="0" y="0"/>
                </a:moveTo>
                <a:lnTo>
                  <a:pt x="1841487" y="0"/>
                </a:lnTo>
                <a:lnTo>
                  <a:pt x="1841487" y="1243812"/>
                </a:lnTo>
                <a:lnTo>
                  <a:pt x="0" y="1243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55478" y="1959695"/>
            <a:ext cx="5663184" cy="3614928"/>
            <a:chOff x="0" y="0"/>
            <a:chExt cx="7550912" cy="48199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50912" cy="4819904"/>
            </a:xfrm>
            <a:custGeom>
              <a:avLst/>
              <a:gdLst/>
              <a:ahLst/>
              <a:cxnLst/>
              <a:rect l="l" t="t" r="r" b="b"/>
              <a:pathLst>
                <a:path w="7550912" h="4819904">
                  <a:moveTo>
                    <a:pt x="0" y="0"/>
                  </a:moveTo>
                  <a:lnTo>
                    <a:pt x="7550912" y="0"/>
                  </a:lnTo>
                  <a:lnTo>
                    <a:pt x="7550912" y="4819904"/>
                  </a:lnTo>
                  <a:lnTo>
                    <a:pt x="0" y="4819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026419" y="2345267"/>
            <a:ext cx="850392" cy="850392"/>
          </a:xfrm>
          <a:custGeom>
            <a:avLst/>
            <a:gdLst/>
            <a:ahLst/>
            <a:cxnLst/>
            <a:rect l="l" t="t" r="r" b="b"/>
            <a:pathLst>
              <a:path w="850392" h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91011" y="2523575"/>
            <a:ext cx="521208" cy="521208"/>
            <a:chOff x="0" y="0"/>
            <a:chExt cx="694944" cy="694944"/>
          </a:xfrm>
        </p:grpSpPr>
        <p:sp>
          <p:nvSpPr>
            <p:cNvPr id="11" name="Freeform 11" descr="icons/brain.png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207394" y="3409400"/>
            <a:ext cx="66675" cy="66675"/>
            <a:chOff x="0" y="0"/>
            <a:chExt cx="66675" cy="666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954"/>
                    <a:pt x="9779" y="9779"/>
                  </a:cubicBezTo>
                  <a:cubicBezTo>
                    <a:pt x="12954" y="6604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207394" y="4171400"/>
            <a:ext cx="66675" cy="66675"/>
            <a:chOff x="0" y="0"/>
            <a:chExt cx="66675" cy="666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207394" y="4552400"/>
            <a:ext cx="66675" cy="66675"/>
            <a:chOff x="0" y="0"/>
            <a:chExt cx="66675" cy="666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207394" y="4933400"/>
            <a:ext cx="66675" cy="66675"/>
            <a:chOff x="0" y="0"/>
            <a:chExt cx="66675" cy="666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164428" y="1960975"/>
            <a:ext cx="5666232" cy="3614928"/>
            <a:chOff x="0" y="0"/>
            <a:chExt cx="7554976" cy="481990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554976" cy="4819904"/>
            </a:xfrm>
            <a:custGeom>
              <a:avLst/>
              <a:gdLst/>
              <a:ahLst/>
              <a:cxnLst/>
              <a:rect l="l" t="t" r="r" b="b"/>
              <a:pathLst>
                <a:path w="7554976" h="4819904">
                  <a:moveTo>
                    <a:pt x="0" y="0"/>
                  </a:moveTo>
                  <a:lnTo>
                    <a:pt x="7554976" y="0"/>
                  </a:lnTo>
                  <a:lnTo>
                    <a:pt x="7554976" y="4819904"/>
                  </a:lnTo>
                  <a:lnTo>
                    <a:pt x="0" y="4819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2" name="Freeform 22"/>
          <p:cNvSpPr/>
          <p:nvPr/>
        </p:nvSpPr>
        <p:spPr>
          <a:xfrm>
            <a:off x="6956908" y="2277586"/>
            <a:ext cx="850392" cy="850392"/>
          </a:xfrm>
          <a:custGeom>
            <a:avLst/>
            <a:gdLst/>
            <a:ahLst/>
            <a:cxnLst/>
            <a:rect l="l" t="t" r="r" b="b"/>
            <a:pathLst>
              <a:path w="850392" h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7117690" y="2442178"/>
            <a:ext cx="521208" cy="521208"/>
            <a:chOff x="0" y="0"/>
            <a:chExt cx="694944" cy="694944"/>
          </a:xfrm>
        </p:grpSpPr>
        <p:sp>
          <p:nvSpPr>
            <p:cNvPr id="24" name="Freeform 24" descr="icons/login.png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7083019" y="3405727"/>
            <a:ext cx="66675" cy="66675"/>
            <a:chOff x="0" y="0"/>
            <a:chExt cx="66675" cy="666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7083019" y="4262977"/>
            <a:ext cx="66675" cy="66675"/>
            <a:chOff x="0" y="0"/>
            <a:chExt cx="66675" cy="6667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7083019" y="4691602"/>
            <a:ext cx="66675" cy="66675"/>
            <a:chOff x="0" y="0"/>
            <a:chExt cx="66675" cy="6667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1966689" y="2015241"/>
            <a:ext cx="5666232" cy="3614928"/>
            <a:chOff x="0" y="0"/>
            <a:chExt cx="7554976" cy="481990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554976" cy="4819904"/>
            </a:xfrm>
            <a:custGeom>
              <a:avLst/>
              <a:gdLst/>
              <a:ahLst/>
              <a:cxnLst/>
              <a:rect l="l" t="t" r="r" b="b"/>
              <a:pathLst>
                <a:path w="7554976" h="4819904">
                  <a:moveTo>
                    <a:pt x="0" y="0"/>
                  </a:moveTo>
                  <a:lnTo>
                    <a:pt x="7554976" y="0"/>
                  </a:lnTo>
                  <a:lnTo>
                    <a:pt x="7554976" y="4819904"/>
                  </a:lnTo>
                  <a:lnTo>
                    <a:pt x="0" y="4819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33" name="Freeform 33"/>
          <p:cNvSpPr/>
          <p:nvPr/>
        </p:nvSpPr>
        <p:spPr>
          <a:xfrm>
            <a:off x="12704305" y="2331852"/>
            <a:ext cx="850392" cy="850392"/>
          </a:xfrm>
          <a:custGeom>
            <a:avLst/>
            <a:gdLst/>
            <a:ahLst/>
            <a:cxnLst/>
            <a:rect l="l" t="t" r="r" b="b"/>
            <a:pathLst>
              <a:path w="850392" h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12868897" y="2533744"/>
            <a:ext cx="521208" cy="521208"/>
            <a:chOff x="0" y="0"/>
            <a:chExt cx="694944" cy="694944"/>
          </a:xfrm>
        </p:grpSpPr>
        <p:sp>
          <p:nvSpPr>
            <p:cNvPr id="35" name="Freeform 35" descr="icons/language.png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12879746" y="3472595"/>
            <a:ext cx="64637" cy="64637"/>
            <a:chOff x="0" y="0"/>
            <a:chExt cx="64630" cy="6464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4637" cy="64522"/>
            </a:xfrm>
            <a:custGeom>
              <a:avLst/>
              <a:gdLst/>
              <a:ahLst/>
              <a:cxnLst/>
              <a:rect l="l" t="t" r="r" b="b"/>
              <a:pathLst>
                <a:path w="64637" h="64522">
                  <a:moveTo>
                    <a:pt x="64637" y="32261"/>
                  </a:moveTo>
                  <a:cubicBezTo>
                    <a:pt x="64637" y="36579"/>
                    <a:pt x="63875" y="40644"/>
                    <a:pt x="62224" y="44581"/>
                  </a:cubicBezTo>
                  <a:cubicBezTo>
                    <a:pt x="60573" y="48518"/>
                    <a:pt x="58288" y="52075"/>
                    <a:pt x="55240" y="55123"/>
                  </a:cubicBezTo>
                  <a:cubicBezTo>
                    <a:pt x="52192" y="58171"/>
                    <a:pt x="48763" y="60457"/>
                    <a:pt x="44700" y="62109"/>
                  </a:cubicBezTo>
                  <a:cubicBezTo>
                    <a:pt x="40636" y="63760"/>
                    <a:pt x="36573" y="64522"/>
                    <a:pt x="32382" y="64522"/>
                  </a:cubicBezTo>
                  <a:cubicBezTo>
                    <a:pt x="28191" y="64522"/>
                    <a:pt x="24001" y="63760"/>
                    <a:pt x="20064" y="62109"/>
                  </a:cubicBezTo>
                  <a:cubicBezTo>
                    <a:pt x="16127" y="60457"/>
                    <a:pt x="12572" y="58171"/>
                    <a:pt x="9524" y="55123"/>
                  </a:cubicBezTo>
                  <a:cubicBezTo>
                    <a:pt x="6476" y="52075"/>
                    <a:pt x="4191" y="48645"/>
                    <a:pt x="2540" y="44581"/>
                  </a:cubicBezTo>
                  <a:cubicBezTo>
                    <a:pt x="889" y="40517"/>
                    <a:pt x="0" y="36579"/>
                    <a:pt x="0" y="32261"/>
                  </a:cubicBezTo>
                  <a:cubicBezTo>
                    <a:pt x="0" y="27943"/>
                    <a:pt x="762" y="23878"/>
                    <a:pt x="2413" y="19941"/>
                  </a:cubicBezTo>
                  <a:cubicBezTo>
                    <a:pt x="4064" y="16003"/>
                    <a:pt x="6476" y="12447"/>
                    <a:pt x="9524" y="9526"/>
                  </a:cubicBezTo>
                  <a:cubicBezTo>
                    <a:pt x="12572" y="6605"/>
                    <a:pt x="16000" y="4191"/>
                    <a:pt x="20064" y="2540"/>
                  </a:cubicBezTo>
                  <a:cubicBezTo>
                    <a:pt x="24128" y="889"/>
                    <a:pt x="28064" y="0"/>
                    <a:pt x="32255" y="0"/>
                  </a:cubicBezTo>
                  <a:cubicBezTo>
                    <a:pt x="36446" y="0"/>
                    <a:pt x="40636" y="762"/>
                    <a:pt x="44573" y="2413"/>
                  </a:cubicBezTo>
                  <a:cubicBezTo>
                    <a:pt x="48509" y="4064"/>
                    <a:pt x="52065" y="6351"/>
                    <a:pt x="55113" y="9399"/>
                  </a:cubicBezTo>
                  <a:cubicBezTo>
                    <a:pt x="58161" y="12447"/>
                    <a:pt x="60446" y="15876"/>
                    <a:pt x="62097" y="19941"/>
                  </a:cubicBezTo>
                  <a:cubicBezTo>
                    <a:pt x="63748" y="24005"/>
                    <a:pt x="64510" y="28070"/>
                    <a:pt x="64510" y="32261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2879746" y="4229765"/>
            <a:ext cx="64637" cy="64637"/>
            <a:chOff x="0" y="0"/>
            <a:chExt cx="64630" cy="6464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4637" cy="64522"/>
            </a:xfrm>
            <a:custGeom>
              <a:avLst/>
              <a:gdLst/>
              <a:ahLst/>
              <a:cxnLst/>
              <a:rect l="l" t="t" r="r" b="b"/>
              <a:pathLst>
                <a:path w="64637" h="64522">
                  <a:moveTo>
                    <a:pt x="64637" y="32261"/>
                  </a:moveTo>
                  <a:cubicBezTo>
                    <a:pt x="64637" y="36580"/>
                    <a:pt x="63875" y="40644"/>
                    <a:pt x="62224" y="44581"/>
                  </a:cubicBezTo>
                  <a:cubicBezTo>
                    <a:pt x="60573" y="48519"/>
                    <a:pt x="58288" y="52075"/>
                    <a:pt x="55240" y="55123"/>
                  </a:cubicBezTo>
                  <a:cubicBezTo>
                    <a:pt x="52192" y="58172"/>
                    <a:pt x="48763" y="60458"/>
                    <a:pt x="44700" y="62109"/>
                  </a:cubicBezTo>
                  <a:cubicBezTo>
                    <a:pt x="40636" y="63760"/>
                    <a:pt x="36573" y="64522"/>
                    <a:pt x="32382" y="64522"/>
                  </a:cubicBezTo>
                  <a:cubicBezTo>
                    <a:pt x="28191" y="64522"/>
                    <a:pt x="24001" y="63760"/>
                    <a:pt x="20064" y="62109"/>
                  </a:cubicBezTo>
                  <a:cubicBezTo>
                    <a:pt x="16127" y="60458"/>
                    <a:pt x="12572" y="58172"/>
                    <a:pt x="9524" y="55123"/>
                  </a:cubicBezTo>
                  <a:cubicBezTo>
                    <a:pt x="6476" y="52075"/>
                    <a:pt x="4191" y="48646"/>
                    <a:pt x="2540" y="44581"/>
                  </a:cubicBezTo>
                  <a:cubicBezTo>
                    <a:pt x="889" y="40517"/>
                    <a:pt x="0" y="36580"/>
                    <a:pt x="0" y="32261"/>
                  </a:cubicBezTo>
                  <a:cubicBezTo>
                    <a:pt x="0" y="27943"/>
                    <a:pt x="762" y="23878"/>
                    <a:pt x="2413" y="19941"/>
                  </a:cubicBezTo>
                  <a:cubicBezTo>
                    <a:pt x="4064" y="16004"/>
                    <a:pt x="6476" y="12447"/>
                    <a:pt x="9524" y="9526"/>
                  </a:cubicBezTo>
                  <a:cubicBezTo>
                    <a:pt x="12572" y="6605"/>
                    <a:pt x="16000" y="4191"/>
                    <a:pt x="20064" y="2540"/>
                  </a:cubicBezTo>
                  <a:cubicBezTo>
                    <a:pt x="24128" y="889"/>
                    <a:pt x="28064" y="0"/>
                    <a:pt x="32255" y="0"/>
                  </a:cubicBezTo>
                  <a:cubicBezTo>
                    <a:pt x="36446" y="0"/>
                    <a:pt x="40636" y="762"/>
                    <a:pt x="44573" y="2413"/>
                  </a:cubicBezTo>
                  <a:cubicBezTo>
                    <a:pt x="48509" y="4064"/>
                    <a:pt x="52065" y="6351"/>
                    <a:pt x="55113" y="9399"/>
                  </a:cubicBezTo>
                  <a:cubicBezTo>
                    <a:pt x="58161" y="12447"/>
                    <a:pt x="60446" y="15877"/>
                    <a:pt x="62097" y="19941"/>
                  </a:cubicBezTo>
                  <a:cubicBezTo>
                    <a:pt x="63748" y="24005"/>
                    <a:pt x="64510" y="28070"/>
                    <a:pt x="64510" y="32261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2879746" y="4986936"/>
            <a:ext cx="64637" cy="64637"/>
            <a:chOff x="0" y="0"/>
            <a:chExt cx="64630" cy="6464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4637" cy="64522"/>
            </a:xfrm>
            <a:custGeom>
              <a:avLst/>
              <a:gdLst/>
              <a:ahLst/>
              <a:cxnLst/>
              <a:rect l="l" t="t" r="r" b="b"/>
              <a:pathLst>
                <a:path w="64637" h="64522">
                  <a:moveTo>
                    <a:pt x="64637" y="32261"/>
                  </a:moveTo>
                  <a:cubicBezTo>
                    <a:pt x="64637" y="36580"/>
                    <a:pt x="63875" y="40644"/>
                    <a:pt x="62224" y="44581"/>
                  </a:cubicBezTo>
                  <a:cubicBezTo>
                    <a:pt x="60573" y="48519"/>
                    <a:pt x="58288" y="52075"/>
                    <a:pt x="55240" y="55123"/>
                  </a:cubicBezTo>
                  <a:cubicBezTo>
                    <a:pt x="52192" y="58172"/>
                    <a:pt x="48763" y="60458"/>
                    <a:pt x="44700" y="62109"/>
                  </a:cubicBezTo>
                  <a:cubicBezTo>
                    <a:pt x="40636" y="63760"/>
                    <a:pt x="36573" y="64522"/>
                    <a:pt x="32382" y="64522"/>
                  </a:cubicBezTo>
                  <a:cubicBezTo>
                    <a:pt x="28191" y="64522"/>
                    <a:pt x="24001" y="63760"/>
                    <a:pt x="20064" y="62109"/>
                  </a:cubicBezTo>
                  <a:cubicBezTo>
                    <a:pt x="16127" y="60458"/>
                    <a:pt x="12572" y="58172"/>
                    <a:pt x="9524" y="55123"/>
                  </a:cubicBezTo>
                  <a:cubicBezTo>
                    <a:pt x="6476" y="52075"/>
                    <a:pt x="4191" y="48646"/>
                    <a:pt x="2540" y="44581"/>
                  </a:cubicBezTo>
                  <a:cubicBezTo>
                    <a:pt x="889" y="40517"/>
                    <a:pt x="0" y="36580"/>
                    <a:pt x="0" y="32261"/>
                  </a:cubicBezTo>
                  <a:cubicBezTo>
                    <a:pt x="0" y="27943"/>
                    <a:pt x="762" y="23878"/>
                    <a:pt x="2413" y="19941"/>
                  </a:cubicBezTo>
                  <a:cubicBezTo>
                    <a:pt x="4064" y="16004"/>
                    <a:pt x="6476" y="12447"/>
                    <a:pt x="9524" y="9526"/>
                  </a:cubicBezTo>
                  <a:cubicBezTo>
                    <a:pt x="12572" y="6605"/>
                    <a:pt x="16000" y="4191"/>
                    <a:pt x="20064" y="2540"/>
                  </a:cubicBezTo>
                  <a:cubicBezTo>
                    <a:pt x="24128" y="889"/>
                    <a:pt x="28064" y="0"/>
                    <a:pt x="32255" y="0"/>
                  </a:cubicBezTo>
                  <a:cubicBezTo>
                    <a:pt x="36446" y="0"/>
                    <a:pt x="40636" y="762"/>
                    <a:pt x="44573" y="2413"/>
                  </a:cubicBezTo>
                  <a:cubicBezTo>
                    <a:pt x="48509" y="4064"/>
                    <a:pt x="52065" y="6351"/>
                    <a:pt x="55113" y="9399"/>
                  </a:cubicBezTo>
                  <a:cubicBezTo>
                    <a:pt x="58161" y="12447"/>
                    <a:pt x="60446" y="15877"/>
                    <a:pt x="62097" y="19941"/>
                  </a:cubicBezTo>
                  <a:cubicBezTo>
                    <a:pt x="63748" y="24005"/>
                    <a:pt x="64510" y="28070"/>
                    <a:pt x="64510" y="32261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359070" y="5948111"/>
            <a:ext cx="5663184" cy="3614928"/>
            <a:chOff x="0" y="0"/>
            <a:chExt cx="7550912" cy="481990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550912" cy="4819904"/>
            </a:xfrm>
            <a:custGeom>
              <a:avLst/>
              <a:gdLst/>
              <a:ahLst/>
              <a:cxnLst/>
              <a:rect l="l" t="t" r="r" b="b"/>
              <a:pathLst>
                <a:path w="7550912" h="4819904">
                  <a:moveTo>
                    <a:pt x="0" y="0"/>
                  </a:moveTo>
                  <a:lnTo>
                    <a:pt x="7550912" y="0"/>
                  </a:lnTo>
                  <a:lnTo>
                    <a:pt x="7550912" y="4819904"/>
                  </a:lnTo>
                  <a:lnTo>
                    <a:pt x="0" y="4819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44" name="Freeform 44"/>
          <p:cNvSpPr/>
          <p:nvPr/>
        </p:nvSpPr>
        <p:spPr>
          <a:xfrm>
            <a:off x="996102" y="6338255"/>
            <a:ext cx="850392" cy="850392"/>
          </a:xfrm>
          <a:custGeom>
            <a:avLst/>
            <a:gdLst/>
            <a:ahLst/>
            <a:cxnLst/>
            <a:rect l="l" t="t" r="r" b="b"/>
            <a:pathLst>
              <a:path w="850392" h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45" name="Group 45"/>
          <p:cNvGrpSpPr/>
          <p:nvPr/>
        </p:nvGrpSpPr>
        <p:grpSpPr>
          <a:xfrm>
            <a:off x="1160694" y="6502847"/>
            <a:ext cx="521208" cy="521208"/>
            <a:chOff x="0" y="0"/>
            <a:chExt cx="694944" cy="694944"/>
          </a:xfrm>
        </p:grpSpPr>
        <p:sp>
          <p:nvSpPr>
            <p:cNvPr id="46" name="Freeform 46" descr="icons/bell.png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177077" y="7442583"/>
            <a:ext cx="66675" cy="66675"/>
            <a:chOff x="0" y="0"/>
            <a:chExt cx="66675" cy="6667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177077" y="7871209"/>
            <a:ext cx="66675" cy="66675"/>
            <a:chOff x="0" y="0"/>
            <a:chExt cx="66675" cy="6667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177077" y="8299833"/>
            <a:ext cx="66675" cy="66675"/>
            <a:chOff x="0" y="0"/>
            <a:chExt cx="66675" cy="6667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6156571" y="5948111"/>
            <a:ext cx="5663184" cy="3614928"/>
            <a:chOff x="0" y="0"/>
            <a:chExt cx="7550912" cy="481990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550912" cy="4819904"/>
            </a:xfrm>
            <a:custGeom>
              <a:avLst/>
              <a:gdLst/>
              <a:ahLst/>
              <a:cxnLst/>
              <a:rect l="l" t="t" r="r" b="b"/>
              <a:pathLst>
                <a:path w="7550912" h="4819904">
                  <a:moveTo>
                    <a:pt x="0" y="0"/>
                  </a:moveTo>
                  <a:lnTo>
                    <a:pt x="7550912" y="0"/>
                  </a:lnTo>
                  <a:lnTo>
                    <a:pt x="7550912" y="4819904"/>
                  </a:lnTo>
                  <a:lnTo>
                    <a:pt x="0" y="4819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55" name="Freeform 55"/>
          <p:cNvSpPr/>
          <p:nvPr/>
        </p:nvSpPr>
        <p:spPr>
          <a:xfrm>
            <a:off x="6793603" y="6338255"/>
            <a:ext cx="850392" cy="850392"/>
          </a:xfrm>
          <a:custGeom>
            <a:avLst/>
            <a:gdLst/>
            <a:ahLst/>
            <a:cxnLst/>
            <a:rect l="l" t="t" r="r" b="b"/>
            <a:pathLst>
              <a:path w="850392" h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grpSp>
        <p:nvGrpSpPr>
          <p:cNvPr id="56" name="Group 56"/>
          <p:cNvGrpSpPr/>
          <p:nvPr/>
        </p:nvGrpSpPr>
        <p:grpSpPr>
          <a:xfrm>
            <a:off x="6958195" y="6502847"/>
            <a:ext cx="521208" cy="521208"/>
            <a:chOff x="0" y="0"/>
            <a:chExt cx="694944" cy="694944"/>
          </a:xfrm>
        </p:grpSpPr>
        <p:sp>
          <p:nvSpPr>
            <p:cNvPr id="57" name="Freeform 57" descr="icons/monitor.png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6993628" y="7448079"/>
            <a:ext cx="66675" cy="66675"/>
            <a:chOff x="0" y="0"/>
            <a:chExt cx="66675" cy="66675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6993628" y="7886229"/>
            <a:ext cx="66675" cy="66675"/>
            <a:chOff x="0" y="0"/>
            <a:chExt cx="66675" cy="6667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6993628" y="8324379"/>
            <a:ext cx="66675" cy="66675"/>
            <a:chOff x="0" y="0"/>
            <a:chExt cx="66675" cy="66675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2011219" y="5948111"/>
            <a:ext cx="5663184" cy="3614928"/>
            <a:chOff x="0" y="0"/>
            <a:chExt cx="7550912" cy="481990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550912" cy="4819904"/>
            </a:xfrm>
            <a:custGeom>
              <a:avLst/>
              <a:gdLst/>
              <a:ahLst/>
              <a:cxnLst/>
              <a:rect l="l" t="t" r="r" b="b"/>
              <a:pathLst>
                <a:path w="7550912" h="4819904">
                  <a:moveTo>
                    <a:pt x="0" y="0"/>
                  </a:moveTo>
                  <a:lnTo>
                    <a:pt x="7550912" y="0"/>
                  </a:lnTo>
                  <a:lnTo>
                    <a:pt x="7550912" y="4819904"/>
                  </a:lnTo>
                  <a:lnTo>
                    <a:pt x="0" y="4819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sp>
        <p:nvSpPr>
          <p:cNvPr id="66" name="Freeform 66"/>
          <p:cNvSpPr/>
          <p:nvPr/>
        </p:nvSpPr>
        <p:spPr>
          <a:xfrm>
            <a:off x="12648251" y="6338255"/>
            <a:ext cx="850392" cy="850392"/>
          </a:xfrm>
          <a:custGeom>
            <a:avLst/>
            <a:gdLst/>
            <a:ahLst/>
            <a:cxnLst/>
            <a:rect l="l" t="t" r="r" b="b"/>
            <a:pathLst>
              <a:path w="850392" h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grpSp>
        <p:nvGrpSpPr>
          <p:cNvPr id="67" name="Group 67"/>
          <p:cNvGrpSpPr/>
          <p:nvPr/>
        </p:nvGrpSpPr>
        <p:grpSpPr>
          <a:xfrm>
            <a:off x="12914675" y="6502847"/>
            <a:ext cx="521208" cy="521208"/>
            <a:chOff x="0" y="0"/>
            <a:chExt cx="694944" cy="694944"/>
          </a:xfrm>
        </p:grpSpPr>
        <p:sp>
          <p:nvSpPr>
            <p:cNvPr id="68" name="Freeform 68" descr="icons/ui.png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grpSp>
        <p:nvGrpSpPr>
          <p:cNvPr id="69" name="Group 69"/>
          <p:cNvGrpSpPr/>
          <p:nvPr/>
        </p:nvGrpSpPr>
        <p:grpSpPr>
          <a:xfrm>
            <a:off x="12829226" y="7333075"/>
            <a:ext cx="66675" cy="66675"/>
            <a:chOff x="0" y="0"/>
            <a:chExt cx="66675" cy="6667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>
                <a:alpha val="75686"/>
              </a:srgbClr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12829226" y="7752175"/>
            <a:ext cx="66675" cy="66675"/>
            <a:chOff x="0" y="0"/>
            <a:chExt cx="66675" cy="66675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>
                <a:alpha val="75686"/>
              </a:srgbClr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12829226" y="8171275"/>
            <a:ext cx="66675" cy="66675"/>
            <a:chOff x="0" y="0"/>
            <a:chExt cx="66675" cy="66675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E3A46">
                <a:alpha val="75686"/>
              </a:srgbClr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72202" y="240592"/>
            <a:ext cx="1712986" cy="1116816"/>
            <a:chOff x="0" y="0"/>
            <a:chExt cx="1712989" cy="1116813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712978" cy="1116834"/>
            </a:xfrm>
            <a:custGeom>
              <a:avLst/>
              <a:gdLst/>
              <a:ahLst/>
              <a:cxnLst/>
              <a:rect l="l" t="t" r="r" b="b"/>
              <a:pathLst>
                <a:path w="1712978" h="1116834">
                  <a:moveTo>
                    <a:pt x="0" y="1116834"/>
                  </a:moveTo>
                  <a:lnTo>
                    <a:pt x="1712978" y="1116834"/>
                  </a:lnTo>
                  <a:lnTo>
                    <a:pt x="17129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12054" y="5954207"/>
            <a:ext cx="5404104" cy="3401568"/>
            <a:chOff x="0" y="0"/>
            <a:chExt cx="5404104" cy="340156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5404104" cy="3401568"/>
            </a:xfrm>
            <a:custGeom>
              <a:avLst/>
              <a:gdLst/>
              <a:ahLst/>
              <a:cxnLst/>
              <a:rect l="l" t="t" r="r" b="b"/>
              <a:pathLst>
                <a:path w="5404104" h="3401568">
                  <a:moveTo>
                    <a:pt x="0" y="3401568"/>
                  </a:moveTo>
                  <a:lnTo>
                    <a:pt x="5404104" y="3401568"/>
                  </a:lnTo>
                  <a:lnTo>
                    <a:pt x="54041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545083" y="1902183"/>
            <a:ext cx="5531101" cy="3528565"/>
            <a:chOff x="0" y="0"/>
            <a:chExt cx="5531104" cy="3528568"/>
          </a:xfrm>
        </p:grpSpPr>
        <p:sp>
          <p:nvSpPr>
            <p:cNvPr id="82" name="Freeform 82"/>
            <p:cNvSpPr/>
            <p:nvPr/>
          </p:nvSpPr>
          <p:spPr>
            <a:xfrm>
              <a:off x="63500" y="63500"/>
              <a:ext cx="5404104" cy="3401568"/>
            </a:xfrm>
            <a:custGeom>
              <a:avLst/>
              <a:gdLst/>
              <a:ahLst/>
              <a:cxnLst/>
              <a:rect l="l" t="t" r="r" b="b"/>
              <a:pathLst>
                <a:path w="5404104" h="3401568">
                  <a:moveTo>
                    <a:pt x="0" y="3401568"/>
                  </a:moveTo>
                  <a:lnTo>
                    <a:pt x="5404104" y="3401568"/>
                  </a:lnTo>
                  <a:lnTo>
                    <a:pt x="54041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" name="Freeform 83"/>
            <p:cNvSpPr/>
            <p:nvPr/>
          </p:nvSpPr>
          <p:spPr>
            <a:xfrm>
              <a:off x="481330" y="443103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850392"/>
                  </a:moveTo>
                  <a:lnTo>
                    <a:pt x="850392" y="850392"/>
                  </a:lnTo>
                  <a:lnTo>
                    <a:pt x="8503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84" name="Group 84"/>
          <p:cNvGrpSpPr/>
          <p:nvPr/>
        </p:nvGrpSpPr>
        <p:grpSpPr>
          <a:xfrm>
            <a:off x="6409555" y="5954207"/>
            <a:ext cx="5404104" cy="3401568"/>
            <a:chOff x="0" y="0"/>
            <a:chExt cx="5404104" cy="340156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5404104" cy="3401568"/>
            </a:xfrm>
            <a:custGeom>
              <a:avLst/>
              <a:gdLst/>
              <a:ahLst/>
              <a:cxnLst/>
              <a:rect l="l" t="t" r="r" b="b"/>
              <a:pathLst>
                <a:path w="5404104" h="3401568">
                  <a:moveTo>
                    <a:pt x="0" y="3401568"/>
                  </a:moveTo>
                  <a:lnTo>
                    <a:pt x="5404104" y="3401568"/>
                  </a:lnTo>
                  <a:lnTo>
                    <a:pt x="54041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6418612" y="1966966"/>
            <a:ext cx="5404104" cy="3401568"/>
            <a:chOff x="0" y="0"/>
            <a:chExt cx="5404104" cy="340156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404104" cy="3401568"/>
            </a:xfrm>
            <a:custGeom>
              <a:avLst/>
              <a:gdLst/>
              <a:ahLst/>
              <a:cxnLst/>
              <a:rect l="l" t="t" r="r" b="b"/>
              <a:pathLst>
                <a:path w="5404104" h="3401568">
                  <a:moveTo>
                    <a:pt x="0" y="3401568"/>
                  </a:moveTo>
                  <a:lnTo>
                    <a:pt x="5404104" y="3401568"/>
                  </a:lnTo>
                  <a:lnTo>
                    <a:pt x="54041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90" name="Group 90"/>
          <p:cNvGrpSpPr/>
          <p:nvPr/>
        </p:nvGrpSpPr>
        <p:grpSpPr>
          <a:xfrm>
            <a:off x="12161106" y="5958226"/>
            <a:ext cx="5531101" cy="3528565"/>
            <a:chOff x="0" y="0"/>
            <a:chExt cx="5531104" cy="3528568"/>
          </a:xfrm>
        </p:grpSpPr>
        <p:sp>
          <p:nvSpPr>
            <p:cNvPr id="91" name="Freeform 91"/>
            <p:cNvSpPr/>
            <p:nvPr/>
          </p:nvSpPr>
          <p:spPr>
            <a:xfrm>
              <a:off x="63500" y="63500"/>
              <a:ext cx="5404104" cy="3401568"/>
            </a:xfrm>
            <a:custGeom>
              <a:avLst/>
              <a:gdLst/>
              <a:ahLst/>
              <a:cxnLst/>
              <a:rect l="l" t="t" r="r" b="b"/>
              <a:pathLst>
                <a:path w="5404104" h="3401568">
                  <a:moveTo>
                    <a:pt x="0" y="3401568"/>
                  </a:moveTo>
                  <a:lnTo>
                    <a:pt x="5404104" y="3401568"/>
                  </a:lnTo>
                  <a:lnTo>
                    <a:pt x="54041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2" name="Freeform 92"/>
            <p:cNvSpPr/>
            <p:nvPr/>
          </p:nvSpPr>
          <p:spPr>
            <a:xfrm>
              <a:off x="447548" y="447548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850392"/>
                  </a:moveTo>
                  <a:lnTo>
                    <a:pt x="850392" y="850392"/>
                  </a:lnTo>
                  <a:lnTo>
                    <a:pt x="8503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93" name="Group 93"/>
          <p:cNvGrpSpPr/>
          <p:nvPr/>
        </p:nvGrpSpPr>
        <p:grpSpPr>
          <a:xfrm>
            <a:off x="12158456" y="1957729"/>
            <a:ext cx="5531101" cy="3528565"/>
            <a:chOff x="0" y="0"/>
            <a:chExt cx="5531104" cy="3528568"/>
          </a:xfrm>
        </p:grpSpPr>
        <p:sp>
          <p:nvSpPr>
            <p:cNvPr id="94" name="Freeform 94"/>
            <p:cNvSpPr/>
            <p:nvPr/>
          </p:nvSpPr>
          <p:spPr>
            <a:xfrm>
              <a:off x="63500" y="63500"/>
              <a:ext cx="5404103" cy="3401568"/>
            </a:xfrm>
            <a:custGeom>
              <a:avLst/>
              <a:gdLst/>
              <a:ahLst/>
              <a:cxnLst/>
              <a:rect l="l" t="t" r="r" b="b"/>
              <a:pathLst>
                <a:path w="5404103" h="3401568">
                  <a:moveTo>
                    <a:pt x="0" y="3401568"/>
                  </a:moveTo>
                  <a:lnTo>
                    <a:pt x="5404103" y="3401568"/>
                  </a:lnTo>
                  <a:lnTo>
                    <a:pt x="54041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5" name="Freeform 95"/>
            <p:cNvSpPr/>
            <p:nvPr/>
          </p:nvSpPr>
          <p:spPr>
            <a:xfrm>
              <a:off x="545846" y="374142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850392"/>
                  </a:moveTo>
                  <a:lnTo>
                    <a:pt x="850392" y="850392"/>
                  </a:lnTo>
                  <a:lnTo>
                    <a:pt x="8503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97" name="TextBox 97"/>
          <p:cNvSpPr txBox="1"/>
          <p:nvPr/>
        </p:nvSpPr>
        <p:spPr>
          <a:xfrm>
            <a:off x="16833618" y="9927784"/>
            <a:ext cx="1296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304945" y="547002"/>
            <a:ext cx="12515155" cy="53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5"/>
              </a:lnSpc>
            </a:pPr>
            <a:r>
              <a:rPr lang="en-US" sz="3039" b="1">
                <a:solidFill>
                  <a:srgbClr val="1F3864"/>
                </a:solidFill>
                <a:latin typeface="Arial Bold"/>
                <a:ea typeface="Arial Bold"/>
                <a:cs typeface="Arial Bold"/>
                <a:sym typeface="Arial Bold"/>
              </a:rPr>
              <a:t>AI-Powered Personalized Cognitive &amp; Memory Assistance Platform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44706" y="628839"/>
            <a:ext cx="1374004" cy="32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52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COGNOVAX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972823" y="2578725"/>
            <a:ext cx="3036922" cy="403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1" dirty="0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Cognitive Gaming Module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052234" y="6503133"/>
            <a:ext cx="2892752" cy="403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1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Daily Routine Reminders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849735" y="6503133"/>
            <a:ext cx="2493369" cy="403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1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Caregiver Monitoring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848448" y="2552563"/>
            <a:ext cx="2769070" cy="403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1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Dual-Login Architecture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3704383" y="6503133"/>
            <a:ext cx="2157003" cy="403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1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Elderly-Friendly UI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3634545" y="2561462"/>
            <a:ext cx="3443173" cy="403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1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Multilingual &amp; Voice-Assisted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406381" y="3215566"/>
            <a:ext cx="3711435" cy="192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100" spc="50" dirty="0">
                <a:solidFill>
                  <a:srgbClr val="2E3A46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memory &amp; attention games</a:t>
            </a:r>
          </a:p>
          <a:p>
            <a:pPr algn="l">
              <a:lnSpc>
                <a:spcPts val="3000"/>
              </a:lnSpc>
            </a:pPr>
            <a:r>
              <a:rPr lang="en-US" sz="2100" spc="50" dirty="0">
                <a:solidFill>
                  <a:srgbClr val="2E3A46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cognitive engagement Helps slow memory decline </a:t>
            </a:r>
            <a:r>
              <a:rPr lang="en-US" sz="2100" spc="50" dirty="0" err="1">
                <a:solidFill>
                  <a:srgbClr val="2E3A46"/>
                </a:solidFill>
                <a:latin typeface="Calibri (MS)"/>
                <a:ea typeface="Calibri (MS)"/>
                <a:cs typeface="Calibri (MS)"/>
                <a:sym typeface="Calibri (MS)"/>
              </a:rPr>
              <a:t>Intresting</a:t>
            </a:r>
            <a:r>
              <a:rPr lang="en-US" sz="2100" spc="50" dirty="0">
                <a:solidFill>
                  <a:srgbClr val="2E3A46"/>
                </a:solidFill>
                <a:latin typeface="Calibri (MS)"/>
                <a:ea typeface="Calibri (MS)"/>
                <a:cs typeface="Calibri (MS)"/>
                <a:sym typeface="Calibri (MS)"/>
              </a:rPr>
              <a:t> Games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376064" y="7220251"/>
            <a:ext cx="3914270" cy="171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099" spc="35">
                <a:solidFill>
                  <a:srgbClr val="2E3A46"/>
                </a:solidFill>
                <a:latin typeface="Calibri (MS)"/>
                <a:ea typeface="Calibri (MS)"/>
                <a:cs typeface="Calibri (MS)"/>
                <a:sym typeface="Calibri (MS)"/>
              </a:rPr>
              <a:t>Medicine, meal &amp; hydration alerts Friendly walk &amp; activity nudges Personalized reminders based on daily routines and habits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7282006" y="3183394"/>
            <a:ext cx="4291060" cy="171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099" spc="23">
                <a:solidFill>
                  <a:srgbClr val="2E3A46"/>
                </a:solidFill>
                <a:latin typeface="Calibri (MS)"/>
                <a:ea typeface="Calibri (MS)"/>
                <a:cs typeface="Calibri (MS)"/>
                <a:sym typeface="Calibri (MS)"/>
              </a:rPr>
              <a:t>Separate patient &amp; caregiver interfaces</a:t>
            </a:r>
          </a:p>
          <a:p>
            <a:pPr algn="l">
              <a:lnSpc>
                <a:spcPts val="3375"/>
              </a:lnSpc>
            </a:pPr>
            <a:r>
              <a:rPr lang="en-US" sz="2099" spc="23">
                <a:solidFill>
                  <a:srgbClr val="2E3A46"/>
                </a:solidFill>
                <a:latin typeface="Calibri (MS)"/>
                <a:ea typeface="Calibri (MS)"/>
                <a:cs typeface="Calibri (MS)"/>
                <a:sym typeface="Calibri (MS)"/>
              </a:rPr>
              <a:t>Role-specific experience for each user Easily Accessible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3028213" y="7110742"/>
            <a:ext cx="4286012" cy="1687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099">
                <a:solidFill>
                  <a:srgbClr val="2E3A46"/>
                </a:solidFill>
                <a:latin typeface="Calibri (MS)"/>
                <a:ea typeface="Calibri (MS)"/>
                <a:cs typeface="Calibri (MS)"/>
                <a:sym typeface="Calibri (MS)"/>
              </a:rPr>
              <a:t>Adjustable icon sizes</a:t>
            </a:r>
          </a:p>
          <a:p>
            <a:pPr algn="l">
              <a:lnSpc>
                <a:spcPts val="3300"/>
              </a:lnSpc>
            </a:pPr>
            <a:r>
              <a:rPr lang="en-US" sz="2099">
                <a:solidFill>
                  <a:srgbClr val="2E3A46"/>
                </a:solidFill>
                <a:latin typeface="Calibri (MS)"/>
                <a:ea typeface="Calibri (MS)"/>
                <a:cs typeface="Calibri (MS)"/>
                <a:sym typeface="Calibri (MS)"/>
              </a:rPr>
              <a:t> low-clutter interface</a:t>
            </a:r>
          </a:p>
          <a:p>
            <a:pPr algn="l">
              <a:lnSpc>
                <a:spcPts val="3300"/>
              </a:lnSpc>
            </a:pPr>
            <a:r>
              <a:rPr lang="en-US" sz="2099">
                <a:solidFill>
                  <a:srgbClr val="2E3A46"/>
                </a:solidFill>
                <a:latin typeface="Calibri (MS)"/>
                <a:ea typeface="Calibri (MS)"/>
                <a:cs typeface="Calibri (MS)"/>
                <a:sym typeface="Calibri (MS)"/>
              </a:rPr>
              <a:t>Easy to use Web-Application for better experience 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3072646" y="3291362"/>
            <a:ext cx="3422837" cy="1897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1"/>
              </a:lnSpc>
            </a:pPr>
            <a:r>
              <a:rPr lang="en-US" sz="2035">
                <a:solidFill>
                  <a:srgbClr val="2E3A46"/>
                </a:solidFill>
                <a:latin typeface="Calibri (MS)"/>
                <a:ea typeface="Calibri (MS)"/>
                <a:cs typeface="Calibri (MS)"/>
                <a:sym typeface="Calibri (MS)"/>
              </a:rPr>
              <a:t>Regional North-East languages supported</a:t>
            </a:r>
          </a:p>
          <a:p>
            <a:pPr algn="l">
              <a:lnSpc>
                <a:spcPts val="2981"/>
              </a:lnSpc>
            </a:pPr>
            <a:r>
              <a:rPr lang="en-US" sz="2035">
                <a:solidFill>
                  <a:srgbClr val="2E3A46"/>
                </a:solidFill>
                <a:latin typeface="Calibri (MS)"/>
                <a:ea typeface="Calibri (MS)"/>
                <a:cs typeface="Calibri (MS)"/>
                <a:sym typeface="Calibri (MS)"/>
              </a:rPr>
              <a:t>Voice assistant removes literacy barriers</a:t>
            </a:r>
          </a:p>
          <a:p>
            <a:pPr algn="l">
              <a:lnSpc>
                <a:spcPts val="2981"/>
              </a:lnSpc>
            </a:pPr>
            <a:r>
              <a:rPr lang="en-US" sz="2035">
                <a:solidFill>
                  <a:srgbClr val="2E3A46"/>
                </a:solidFill>
                <a:latin typeface="Calibri (MS)"/>
                <a:ea typeface="Calibri (MS)"/>
                <a:cs typeface="Calibri (MS)"/>
                <a:sym typeface="Calibri (MS)"/>
              </a:rPr>
              <a:t>Increase Feasibility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7182642" y="7211355"/>
            <a:ext cx="4371565" cy="1314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49" spc="64">
                <a:solidFill>
                  <a:srgbClr val="2E3A46"/>
                </a:solidFill>
                <a:latin typeface="Calibri (MS)"/>
                <a:ea typeface="Calibri (MS)"/>
                <a:cs typeface="Calibri (MS)"/>
                <a:sym typeface="Calibri (MS)"/>
              </a:rPr>
              <a:t>View patient activity remotely Manage multiple patients, one login Track Progress time by time</a:t>
            </a:r>
          </a:p>
        </p:txBody>
      </p:sp>
      <p:grpSp>
        <p:nvGrpSpPr>
          <p:cNvPr id="115" name="Group 9">
            <a:extLst>
              <a:ext uri="{FF2B5EF4-FFF2-40B4-BE49-F238E27FC236}">
                <a16:creationId xmlns:a16="http://schemas.microsoft.com/office/drawing/2014/main" id="{1CF7F5E3-1FEB-574D-7D28-0DCA025F2178}"/>
              </a:ext>
            </a:extLst>
          </p:cNvPr>
          <p:cNvGrpSpPr/>
          <p:nvPr/>
        </p:nvGrpSpPr>
        <p:grpSpPr>
          <a:xfrm>
            <a:off x="16967940" y="8674751"/>
            <a:ext cx="1320060" cy="1229439"/>
            <a:chOff x="0" y="0"/>
            <a:chExt cx="1760080" cy="1639252"/>
          </a:xfrm>
        </p:grpSpPr>
        <p:sp>
          <p:nvSpPr>
            <p:cNvPr id="116" name="Freeform 10">
              <a:extLst>
                <a:ext uri="{FF2B5EF4-FFF2-40B4-BE49-F238E27FC236}">
                  <a16:creationId xmlns:a16="http://schemas.microsoft.com/office/drawing/2014/main" id="{0F807887-FE05-25B5-05EC-6D862498FB48}"/>
                </a:ext>
              </a:extLst>
            </p:cNvPr>
            <p:cNvSpPr/>
            <p:nvPr/>
          </p:nvSpPr>
          <p:spPr>
            <a:xfrm>
              <a:off x="0" y="0"/>
              <a:ext cx="1760093" cy="1639316"/>
            </a:xfrm>
            <a:custGeom>
              <a:avLst/>
              <a:gdLst/>
              <a:ahLst/>
              <a:cxnLst/>
              <a:rect l="l" t="t" r="r" b="b"/>
              <a:pathLst>
                <a:path w="1760093" h="1639316">
                  <a:moveTo>
                    <a:pt x="819658" y="0"/>
                  </a:moveTo>
                  <a:cubicBezTo>
                    <a:pt x="366903" y="0"/>
                    <a:pt x="0" y="366903"/>
                    <a:pt x="0" y="819658"/>
                  </a:cubicBezTo>
                  <a:cubicBezTo>
                    <a:pt x="0" y="1272413"/>
                    <a:pt x="366903" y="1639316"/>
                    <a:pt x="819658" y="1639316"/>
                  </a:cubicBezTo>
                  <a:lnTo>
                    <a:pt x="940435" y="1639316"/>
                  </a:lnTo>
                  <a:cubicBezTo>
                    <a:pt x="1393063" y="1639316"/>
                    <a:pt x="1760093" y="1272413"/>
                    <a:pt x="1760093" y="819658"/>
                  </a:cubicBezTo>
                  <a:cubicBezTo>
                    <a:pt x="1760093" y="366903"/>
                    <a:pt x="1393063" y="0"/>
                    <a:pt x="940435" y="0"/>
                  </a:cubicBezTo>
                  <a:close/>
                </a:path>
              </a:pathLst>
            </a:custGeom>
            <a:blipFill>
              <a:blip r:embed="rId21">
                <a:alphaModFix amt="75999"/>
              </a:blip>
              <a:stretch>
                <a:fillRect t="-2841" r="-127" b="-2956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70129" y="2248"/>
            <a:ext cx="3373745" cy="1593504"/>
            <a:chOff x="0" y="0"/>
            <a:chExt cx="4498327" cy="21246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8340" cy="2124710"/>
            </a:xfrm>
            <a:custGeom>
              <a:avLst/>
              <a:gdLst/>
              <a:ahLst/>
              <a:cxnLst/>
              <a:rect l="l" t="t" r="r" b="b"/>
              <a:pathLst>
                <a:path w="4498340" h="212471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890808"/>
            <a:ext cx="18288000" cy="396192"/>
            <a:chOff x="0" y="0"/>
            <a:chExt cx="18288000" cy="3961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288000" cy="396237"/>
            </a:xfrm>
            <a:custGeom>
              <a:avLst/>
              <a:gdLst/>
              <a:ahLst/>
              <a:cxnLst/>
              <a:rect l="l" t="t" r="r" b="b"/>
              <a:pathLst>
                <a:path w="18288000" h="396237">
                  <a:moveTo>
                    <a:pt x="0" y="0"/>
                  </a:moveTo>
                  <a:lnTo>
                    <a:pt x="0" y="396237"/>
                  </a:lnTo>
                  <a:lnTo>
                    <a:pt x="18288000" y="396237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70771" y="1357408"/>
            <a:ext cx="5619750" cy="8010525"/>
            <a:chOff x="0" y="0"/>
            <a:chExt cx="7493000" cy="106807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93000" cy="10680700"/>
            </a:xfrm>
            <a:custGeom>
              <a:avLst/>
              <a:gdLst/>
              <a:ahLst/>
              <a:cxnLst/>
              <a:rect l="l" t="t" r="r" b="b"/>
              <a:pathLst>
                <a:path w="7493000" h="10680700">
                  <a:moveTo>
                    <a:pt x="0" y="0"/>
                  </a:moveTo>
                  <a:lnTo>
                    <a:pt x="7493000" y="0"/>
                  </a:lnTo>
                  <a:lnTo>
                    <a:pt x="7493000" y="10680700"/>
                  </a:lnTo>
                  <a:lnTo>
                    <a:pt x="0" y="1068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651" b="-258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406070" y="1777965"/>
            <a:ext cx="5943600" cy="1743075"/>
            <a:chOff x="0" y="0"/>
            <a:chExt cx="7924800" cy="2324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24800" cy="2324100"/>
            </a:xfrm>
            <a:custGeom>
              <a:avLst/>
              <a:gdLst/>
              <a:ahLst/>
              <a:cxnLst/>
              <a:rect l="l" t="t" r="r" b="b"/>
              <a:pathLst>
                <a:path w="7924800" h="2324100">
                  <a:moveTo>
                    <a:pt x="0" y="0"/>
                  </a:moveTo>
                  <a:lnTo>
                    <a:pt x="7924800" y="0"/>
                  </a:lnTo>
                  <a:lnTo>
                    <a:pt x="7924800" y="2324100"/>
                  </a:lnTo>
                  <a:lnTo>
                    <a:pt x="0" y="232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7213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9804359" y="3783501"/>
            <a:ext cx="5943600" cy="1743075"/>
            <a:chOff x="0" y="0"/>
            <a:chExt cx="7924800" cy="2324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924800" cy="2324100"/>
            </a:xfrm>
            <a:custGeom>
              <a:avLst/>
              <a:gdLst/>
              <a:ahLst/>
              <a:cxnLst/>
              <a:rect l="l" t="t" r="r" b="b"/>
              <a:pathLst>
                <a:path w="7924800" h="2324100">
                  <a:moveTo>
                    <a:pt x="0" y="0"/>
                  </a:moveTo>
                  <a:lnTo>
                    <a:pt x="7924800" y="0"/>
                  </a:lnTo>
                  <a:lnTo>
                    <a:pt x="7924800" y="2324100"/>
                  </a:lnTo>
                  <a:lnTo>
                    <a:pt x="0" y="232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37213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0693879" y="5655774"/>
            <a:ext cx="5943600" cy="1743075"/>
            <a:chOff x="0" y="0"/>
            <a:chExt cx="7924800" cy="23241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924800" cy="2324100"/>
            </a:xfrm>
            <a:custGeom>
              <a:avLst/>
              <a:gdLst/>
              <a:ahLst/>
              <a:cxnLst/>
              <a:rect l="l" t="t" r="r" b="b"/>
              <a:pathLst>
                <a:path w="7924800" h="2324100">
                  <a:moveTo>
                    <a:pt x="0" y="0"/>
                  </a:moveTo>
                  <a:lnTo>
                    <a:pt x="7924800" y="0"/>
                  </a:lnTo>
                  <a:lnTo>
                    <a:pt x="7924800" y="2324100"/>
                  </a:lnTo>
                  <a:lnTo>
                    <a:pt x="0" y="232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72131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1376203" y="7410917"/>
            <a:ext cx="5943600" cy="1247775"/>
            <a:chOff x="0" y="0"/>
            <a:chExt cx="7924800" cy="16637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924800" cy="1663700"/>
            </a:xfrm>
            <a:custGeom>
              <a:avLst/>
              <a:gdLst/>
              <a:ahLst/>
              <a:cxnLst/>
              <a:rect l="l" t="t" r="r" b="b"/>
              <a:pathLst>
                <a:path w="7924800" h="1663700">
                  <a:moveTo>
                    <a:pt x="0" y="0"/>
                  </a:moveTo>
                  <a:lnTo>
                    <a:pt x="7924800" y="0"/>
                  </a:lnTo>
                  <a:lnTo>
                    <a:pt x="7924800" y="1663700"/>
                  </a:lnTo>
                  <a:lnTo>
                    <a:pt x="0" y="166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559541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4819679" y="289141"/>
            <a:ext cx="8375066" cy="94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11897" y="9873729"/>
            <a:ext cx="2375097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833618" y="9927784"/>
            <a:ext cx="1296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003250" y="1938023"/>
            <a:ext cx="2602811" cy="791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72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FRONTEND</a:t>
            </a:r>
          </a:p>
          <a:p>
            <a:pPr algn="ctr">
              <a:lnSpc>
                <a:spcPts val="2025"/>
              </a:lnSpc>
            </a:pPr>
            <a:r>
              <a:rPr lang="en-US" sz="172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React 19.2 + Next.js 16 (App Router, Turbopack)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66602" y="3947884"/>
            <a:ext cx="2446239" cy="791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72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BACKEND</a:t>
            </a:r>
          </a:p>
          <a:p>
            <a:pPr algn="ctr">
              <a:lnSpc>
                <a:spcPts val="2025"/>
              </a:lnSpc>
            </a:pPr>
            <a:r>
              <a:rPr lang="en-US" sz="172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Next.js Route Handlers TypeScript + Node.js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16689" y="5953420"/>
            <a:ext cx="2526649" cy="791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72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UI / STYLING</a:t>
            </a:r>
          </a:p>
          <a:p>
            <a:pPr algn="ctr">
              <a:lnSpc>
                <a:spcPts val="2025"/>
              </a:lnSpc>
            </a:pPr>
            <a:r>
              <a:rPr lang="en-US" sz="172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Tailwind CSS v4</a:t>
            </a:r>
          </a:p>
          <a:p>
            <a:pPr algn="ctr">
              <a:lnSpc>
                <a:spcPts val="2025"/>
              </a:lnSpc>
            </a:pPr>
            <a:r>
              <a:rPr lang="en-US" sz="172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Framer Motion + Lucide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914728" y="7673302"/>
            <a:ext cx="2620156" cy="791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72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AUTH &amp; SECURITY bcrypt hashing</a:t>
            </a:r>
          </a:p>
          <a:p>
            <a:pPr algn="ctr">
              <a:lnSpc>
                <a:spcPts val="2025"/>
              </a:lnSpc>
            </a:pPr>
            <a:r>
              <a:rPr lang="en-US" sz="172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Secure httpOnly session</a:t>
            </a:r>
          </a:p>
        </p:txBody>
      </p:sp>
      <p:sp>
        <p:nvSpPr>
          <p:cNvPr id="34" name="Freeform 6">
            <a:extLst>
              <a:ext uri="{FF2B5EF4-FFF2-40B4-BE49-F238E27FC236}">
                <a16:creationId xmlns:a16="http://schemas.microsoft.com/office/drawing/2014/main" id="{AC5B4936-8684-4A7A-9077-5AE20C74D949}"/>
              </a:ext>
            </a:extLst>
          </p:cNvPr>
          <p:cNvSpPr/>
          <p:nvPr/>
        </p:nvSpPr>
        <p:spPr>
          <a:xfrm>
            <a:off x="108709" y="177089"/>
            <a:ext cx="1841487" cy="1243813"/>
          </a:xfrm>
          <a:custGeom>
            <a:avLst/>
            <a:gdLst/>
            <a:ahLst/>
            <a:cxnLst/>
            <a:rect l="l" t="t" r="r" b="b"/>
            <a:pathLst>
              <a:path w="1841487" h="1243813">
                <a:moveTo>
                  <a:pt x="0" y="0"/>
                </a:moveTo>
                <a:lnTo>
                  <a:pt x="1841487" y="0"/>
                </a:lnTo>
                <a:lnTo>
                  <a:pt x="1841487" y="1243812"/>
                </a:lnTo>
                <a:lnTo>
                  <a:pt x="0" y="1243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77">
            <a:extLst>
              <a:ext uri="{FF2B5EF4-FFF2-40B4-BE49-F238E27FC236}">
                <a16:creationId xmlns:a16="http://schemas.microsoft.com/office/drawing/2014/main" id="{CB636AF0-99D4-49F6-8D79-3709F0A58EB6}"/>
              </a:ext>
            </a:extLst>
          </p:cNvPr>
          <p:cNvGrpSpPr/>
          <p:nvPr/>
        </p:nvGrpSpPr>
        <p:grpSpPr>
          <a:xfrm>
            <a:off x="172202" y="240592"/>
            <a:ext cx="1712986" cy="1116816"/>
            <a:chOff x="0" y="0"/>
            <a:chExt cx="1712989" cy="1116813"/>
          </a:xfrm>
        </p:grpSpPr>
        <p:sp>
          <p:nvSpPr>
            <p:cNvPr id="36" name="Freeform 78">
              <a:extLst>
                <a:ext uri="{FF2B5EF4-FFF2-40B4-BE49-F238E27FC236}">
                  <a16:creationId xmlns:a16="http://schemas.microsoft.com/office/drawing/2014/main" id="{B609BBD6-A941-4A0F-B9DB-263B49DDEFB9}"/>
                </a:ext>
              </a:extLst>
            </p:cNvPr>
            <p:cNvSpPr/>
            <p:nvPr/>
          </p:nvSpPr>
          <p:spPr>
            <a:xfrm>
              <a:off x="0" y="0"/>
              <a:ext cx="1712978" cy="1116834"/>
            </a:xfrm>
            <a:custGeom>
              <a:avLst/>
              <a:gdLst/>
              <a:ahLst/>
              <a:cxnLst/>
              <a:rect l="l" t="t" r="r" b="b"/>
              <a:pathLst>
                <a:path w="1712978" h="1116834">
                  <a:moveTo>
                    <a:pt x="0" y="1116834"/>
                  </a:moveTo>
                  <a:lnTo>
                    <a:pt x="1712978" y="1116834"/>
                  </a:lnTo>
                  <a:lnTo>
                    <a:pt x="17129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7" name="TextBox 99">
            <a:extLst>
              <a:ext uri="{FF2B5EF4-FFF2-40B4-BE49-F238E27FC236}">
                <a16:creationId xmlns:a16="http://schemas.microsoft.com/office/drawing/2014/main" id="{6589EE53-05B7-4253-9D40-94ED19E93C4F}"/>
              </a:ext>
            </a:extLst>
          </p:cNvPr>
          <p:cNvSpPr txBox="1"/>
          <p:nvPr/>
        </p:nvSpPr>
        <p:spPr>
          <a:xfrm>
            <a:off x="344706" y="628839"/>
            <a:ext cx="1374004" cy="32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52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COGNOVAX</a:t>
            </a:r>
          </a:p>
        </p:txBody>
      </p:sp>
      <p:grpSp>
        <p:nvGrpSpPr>
          <p:cNvPr id="66" name="Group 9">
            <a:extLst>
              <a:ext uri="{FF2B5EF4-FFF2-40B4-BE49-F238E27FC236}">
                <a16:creationId xmlns:a16="http://schemas.microsoft.com/office/drawing/2014/main" id="{88E2467B-4B38-B60D-6E49-FD7795FCE0E8}"/>
              </a:ext>
            </a:extLst>
          </p:cNvPr>
          <p:cNvGrpSpPr/>
          <p:nvPr/>
        </p:nvGrpSpPr>
        <p:grpSpPr>
          <a:xfrm>
            <a:off x="16967940" y="8674751"/>
            <a:ext cx="1320060" cy="1229439"/>
            <a:chOff x="0" y="0"/>
            <a:chExt cx="1760080" cy="1639252"/>
          </a:xfrm>
        </p:grpSpPr>
        <p:sp>
          <p:nvSpPr>
            <p:cNvPr id="67" name="Freeform 10">
              <a:extLst>
                <a:ext uri="{FF2B5EF4-FFF2-40B4-BE49-F238E27FC236}">
                  <a16:creationId xmlns:a16="http://schemas.microsoft.com/office/drawing/2014/main" id="{52D3E336-4A87-633B-5FD9-9C8A60A35B1B}"/>
                </a:ext>
              </a:extLst>
            </p:cNvPr>
            <p:cNvSpPr/>
            <p:nvPr/>
          </p:nvSpPr>
          <p:spPr>
            <a:xfrm>
              <a:off x="0" y="0"/>
              <a:ext cx="1760093" cy="1639316"/>
            </a:xfrm>
            <a:custGeom>
              <a:avLst/>
              <a:gdLst/>
              <a:ahLst/>
              <a:cxnLst/>
              <a:rect l="l" t="t" r="r" b="b"/>
              <a:pathLst>
                <a:path w="1760093" h="1639316">
                  <a:moveTo>
                    <a:pt x="819658" y="0"/>
                  </a:moveTo>
                  <a:cubicBezTo>
                    <a:pt x="366903" y="0"/>
                    <a:pt x="0" y="366903"/>
                    <a:pt x="0" y="819658"/>
                  </a:cubicBezTo>
                  <a:cubicBezTo>
                    <a:pt x="0" y="1272413"/>
                    <a:pt x="366903" y="1639316"/>
                    <a:pt x="819658" y="1639316"/>
                  </a:cubicBezTo>
                  <a:lnTo>
                    <a:pt x="940435" y="1639316"/>
                  </a:lnTo>
                  <a:cubicBezTo>
                    <a:pt x="1393063" y="1639316"/>
                    <a:pt x="1760093" y="1272413"/>
                    <a:pt x="1760093" y="819658"/>
                  </a:cubicBezTo>
                  <a:cubicBezTo>
                    <a:pt x="1760093" y="366903"/>
                    <a:pt x="1393063" y="0"/>
                    <a:pt x="940435" y="0"/>
                  </a:cubicBezTo>
                  <a:close/>
                </a:path>
              </a:pathLst>
            </a:custGeom>
            <a:blipFill>
              <a:blip r:embed="rId7">
                <a:alphaModFix amt="75999"/>
              </a:blip>
              <a:stretch>
                <a:fillRect t="-2841" r="-127" b="-2956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>
            <a:extLst>
              <a:ext uri="{FF2B5EF4-FFF2-40B4-BE49-F238E27FC236}">
                <a16:creationId xmlns:a16="http://schemas.microsoft.com/office/drawing/2014/main" id="{B3D160F8-539E-A586-8E7C-78905E1CEA5A}"/>
              </a:ext>
            </a:extLst>
          </p:cNvPr>
          <p:cNvGrpSpPr/>
          <p:nvPr/>
        </p:nvGrpSpPr>
        <p:grpSpPr>
          <a:xfrm>
            <a:off x="0" y="9890808"/>
            <a:ext cx="18288000" cy="396192"/>
            <a:chOff x="0" y="0"/>
            <a:chExt cx="18288000" cy="396189"/>
          </a:xfrm>
        </p:grpSpPr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AD116A2E-115E-6C2C-3D5F-288BDC5A0861}"/>
                </a:ext>
              </a:extLst>
            </p:cNvPr>
            <p:cNvSpPr/>
            <p:nvPr/>
          </p:nvSpPr>
          <p:spPr>
            <a:xfrm>
              <a:off x="0" y="0"/>
              <a:ext cx="18288000" cy="396237"/>
            </a:xfrm>
            <a:custGeom>
              <a:avLst/>
              <a:gdLst/>
              <a:ahLst/>
              <a:cxnLst/>
              <a:rect l="l" t="t" r="r" b="b"/>
              <a:pathLst>
                <a:path w="18288000" h="396237">
                  <a:moveTo>
                    <a:pt x="0" y="0"/>
                  </a:moveTo>
                  <a:lnTo>
                    <a:pt x="0" y="396237"/>
                  </a:lnTo>
                  <a:lnTo>
                    <a:pt x="18288000" y="396237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40" name="TextBox 25">
            <a:extLst>
              <a:ext uri="{FF2B5EF4-FFF2-40B4-BE49-F238E27FC236}">
                <a16:creationId xmlns:a16="http://schemas.microsoft.com/office/drawing/2014/main" id="{4923B1DC-DE6C-5BB2-8B05-405B0B4DA977}"/>
              </a:ext>
            </a:extLst>
          </p:cNvPr>
          <p:cNvSpPr txBox="1"/>
          <p:nvPr/>
        </p:nvSpPr>
        <p:spPr>
          <a:xfrm>
            <a:off x="7711897" y="9873729"/>
            <a:ext cx="2375097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14670129" y="2248"/>
            <a:ext cx="3373745" cy="1593504"/>
            <a:chOff x="0" y="0"/>
            <a:chExt cx="4498327" cy="21246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8340" cy="2124710"/>
            </a:xfrm>
            <a:custGeom>
              <a:avLst/>
              <a:gdLst/>
              <a:ahLst/>
              <a:cxnLst/>
              <a:rect l="l" t="t" r="r" b="b"/>
              <a:pathLst>
                <a:path w="4498340" h="212471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914857" y="1783080"/>
            <a:ext cx="8023860" cy="548640"/>
          </a:xfrm>
          <a:custGeom>
            <a:avLst/>
            <a:gdLst/>
            <a:ahLst/>
            <a:cxnLst/>
            <a:rect l="l" t="t" r="r" b="b"/>
            <a:pathLst>
              <a:path w="8023860" h="548640">
                <a:moveTo>
                  <a:pt x="0" y="0"/>
                </a:moveTo>
                <a:lnTo>
                  <a:pt x="8023860" y="0"/>
                </a:lnTo>
                <a:lnTo>
                  <a:pt x="8023860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857" y="5266944"/>
            <a:ext cx="8023860" cy="548640"/>
          </a:xfrm>
          <a:custGeom>
            <a:avLst/>
            <a:gdLst/>
            <a:ahLst/>
            <a:cxnLst/>
            <a:rect l="l" t="t" r="r" b="b"/>
            <a:pathLst>
              <a:path w="8023860" h="548640">
                <a:moveTo>
                  <a:pt x="0" y="0"/>
                </a:moveTo>
                <a:lnTo>
                  <a:pt x="8023860" y="0"/>
                </a:lnTo>
                <a:lnTo>
                  <a:pt x="8023860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52982" y="2643168"/>
            <a:ext cx="76200" cy="76200"/>
            <a:chOff x="0" y="0"/>
            <a:chExt cx="76200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>
                <a:alpha val="75686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152982" y="3176568"/>
            <a:ext cx="76200" cy="76200"/>
            <a:chOff x="0" y="0"/>
            <a:chExt cx="76200" cy="76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>
                <a:alpha val="75686"/>
              </a:srgbClr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152982" y="3976668"/>
            <a:ext cx="76200" cy="76200"/>
            <a:chOff x="0" y="0"/>
            <a:chExt cx="76200" cy="76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>
                <a:alpha val="75686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152982" y="4776768"/>
            <a:ext cx="76200" cy="76200"/>
            <a:chOff x="0" y="0"/>
            <a:chExt cx="76200" cy="76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>
                <a:alpha val="75686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632480" y="6143996"/>
            <a:ext cx="85725" cy="85725"/>
            <a:chOff x="0" y="0"/>
            <a:chExt cx="85725" cy="857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>
                <a:alpha val="75686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632480" y="6667871"/>
            <a:ext cx="85725" cy="85725"/>
            <a:chOff x="0" y="0"/>
            <a:chExt cx="85725" cy="857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>
                <a:alpha val="75686"/>
              </a:srgbClr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632480" y="7191746"/>
            <a:ext cx="85725" cy="85725"/>
            <a:chOff x="0" y="0"/>
            <a:chExt cx="85725" cy="857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>
                <a:alpha val="75686"/>
              </a:srgbClr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632480" y="8239496"/>
            <a:ext cx="85725" cy="85725"/>
            <a:chOff x="0" y="0"/>
            <a:chExt cx="85725" cy="857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>
                <a:alpha val="75686"/>
              </a:srgbClr>
            </a:solidFill>
          </p:spPr>
        </p:sp>
      </p:grpSp>
      <p:sp>
        <p:nvSpPr>
          <p:cNvPr id="25" name="Freeform 25"/>
          <p:cNvSpPr/>
          <p:nvPr/>
        </p:nvSpPr>
        <p:spPr>
          <a:xfrm>
            <a:off x="9350197" y="1783080"/>
            <a:ext cx="8023860" cy="548640"/>
          </a:xfrm>
          <a:custGeom>
            <a:avLst/>
            <a:gdLst/>
            <a:ahLst/>
            <a:cxnLst/>
            <a:rect l="l" t="t" r="r" b="b"/>
            <a:pathLst>
              <a:path w="8023860" h="548640">
                <a:moveTo>
                  <a:pt x="0" y="0"/>
                </a:moveTo>
                <a:lnTo>
                  <a:pt x="8023860" y="0"/>
                </a:lnTo>
                <a:lnTo>
                  <a:pt x="8023860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9350197" y="5266944"/>
            <a:ext cx="8023860" cy="548640"/>
          </a:xfrm>
          <a:custGeom>
            <a:avLst/>
            <a:gdLst/>
            <a:ahLst/>
            <a:cxnLst/>
            <a:rect l="l" t="t" r="r" b="b"/>
            <a:pathLst>
              <a:path w="8023860" h="548640">
                <a:moveTo>
                  <a:pt x="0" y="0"/>
                </a:moveTo>
                <a:lnTo>
                  <a:pt x="8023860" y="0"/>
                </a:lnTo>
                <a:lnTo>
                  <a:pt x="8023860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9970856" y="2830306"/>
            <a:ext cx="95250" cy="95250"/>
            <a:chOff x="0" y="0"/>
            <a:chExt cx="95250" cy="952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>
                <a:alpha val="75686"/>
              </a:srgbClr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970856" y="3382756"/>
            <a:ext cx="95250" cy="95250"/>
            <a:chOff x="0" y="0"/>
            <a:chExt cx="95250" cy="952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>
                <a:alpha val="75686"/>
              </a:srgbClr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970856" y="3935206"/>
            <a:ext cx="95250" cy="95250"/>
            <a:chOff x="0" y="0"/>
            <a:chExt cx="95250" cy="952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>
                <a:alpha val="75686"/>
              </a:srgbClr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9970856" y="4487656"/>
            <a:ext cx="95250" cy="95250"/>
            <a:chOff x="0" y="0"/>
            <a:chExt cx="95250" cy="952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>
                <a:alpha val="75686"/>
              </a:srgbClr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4189657" y="322478"/>
            <a:ext cx="10106777" cy="94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197563" y="5371090"/>
            <a:ext cx="1487376" cy="349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MITIGATION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169874" y="1887226"/>
            <a:ext cx="1543736" cy="349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708503" y="1887226"/>
            <a:ext cx="1333195" cy="349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USABILITY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543453" y="5371090"/>
            <a:ext cx="1669923" cy="349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SCALABILITY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227135" y="2565130"/>
            <a:ext cx="6787629" cy="2184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62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interface, large clear controls Accessibility: text size &amp; high-contrast modes Voice interaction for low-friction use </a:t>
            </a:r>
          </a:p>
          <a:p>
            <a:pPr algn="l">
              <a:lnSpc>
                <a:spcPts val="4349"/>
              </a:lnSpc>
            </a:pPr>
            <a:r>
              <a:rPr lang="en-US" sz="262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Regional-language support for the NER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4857" y="5933970"/>
            <a:ext cx="2077374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Elderly usability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361057" y="6261649"/>
            <a:ext cx="75257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14857" y="6616817"/>
            <a:ext cx="3115732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Varying cognitive ability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509009" y="6944497"/>
            <a:ext cx="75257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14857" y="7299674"/>
            <a:ext cx="3190856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Language barriers (NER)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705034" y="7627353"/>
            <a:ext cx="75257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14857" y="7982521"/>
            <a:ext cx="2348903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Privacy &amp; security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316975" y="8310201"/>
            <a:ext cx="75257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14857" y="8665369"/>
            <a:ext cx="3672535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Over-reliance on automation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323921" y="8993048"/>
            <a:ext cx="75257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14857" y="6261649"/>
            <a:ext cx="3929167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Simple,accessibleinterface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14857" y="6944497"/>
            <a:ext cx="3748640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Adaptivedifficultyperuser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14857" y="7627353"/>
            <a:ext cx="4532271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Regional-languagevoicesupport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14857" y="8310201"/>
            <a:ext cx="4359145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Secureauth+sessionhandling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14857" y="8993048"/>
            <a:ext cx="7030488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Caregiver given visibilityin app ,so a human is always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14857" y="9334481"/>
            <a:ext cx="5134156" cy="37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checking ,not just AI controlling everything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864652" y="5878373"/>
            <a:ext cx="7672892" cy="3111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266" spc="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only approach makes it advance.</a:t>
            </a:r>
          </a:p>
          <a:p>
            <a:pPr algn="l">
              <a:lnSpc>
                <a:spcPts val="4125"/>
              </a:lnSpc>
            </a:pPr>
            <a:r>
              <a:rPr lang="en-US" sz="2266" spc="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add more regional slide over time.</a:t>
            </a:r>
          </a:p>
          <a:p>
            <a:pPr algn="l">
              <a:lnSpc>
                <a:spcPts val="4125"/>
              </a:lnSpc>
            </a:pPr>
            <a:r>
              <a:rPr lang="en-US" sz="2266" spc="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Feature/activities can be added without rebuilding the system.</a:t>
            </a:r>
          </a:p>
          <a:p>
            <a:pPr algn="l">
              <a:lnSpc>
                <a:spcPts val="4125"/>
              </a:lnSpc>
            </a:pPr>
            <a:r>
              <a:rPr lang="en-US" sz="2266" spc="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Familiy member/ caregiver help onboard elderly user,making rollut easier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68190" y="2566406"/>
            <a:ext cx="7421623" cy="268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Fully web-based, runs on any browser or basic smartphone.</a:t>
            </a:r>
          </a:p>
          <a:p>
            <a:pPr algn="l">
              <a:lnSpc>
                <a:spcPts val="2100"/>
              </a:lnSpc>
              <a:spcBef>
                <a:spcPts val="2100"/>
              </a:spcBef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Prototype already working core user flows built and tested, not just mockups.</a:t>
            </a:r>
          </a:p>
          <a:p>
            <a:pPr algn="l">
              <a:lnSpc>
                <a:spcPts val="2100"/>
              </a:lnSpc>
              <a:spcBef>
                <a:spcPts val="2100"/>
              </a:spcBef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Modular by design new games or features plug in without touching the core system.</a:t>
            </a:r>
          </a:p>
          <a:p>
            <a:pPr algn="l">
              <a:lnSpc>
                <a:spcPts val="2100"/>
              </a:lnSpc>
              <a:spcBef>
                <a:spcPts val="2100"/>
              </a:spcBef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need to build new system to collect data,we’re gathering it as people use app.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6833618" y="9911048"/>
            <a:ext cx="129683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id="68" name="Freeform 6">
            <a:extLst>
              <a:ext uri="{FF2B5EF4-FFF2-40B4-BE49-F238E27FC236}">
                <a16:creationId xmlns:a16="http://schemas.microsoft.com/office/drawing/2014/main" id="{E62A47A7-5D9E-46A2-8F6E-79259517825D}"/>
              </a:ext>
            </a:extLst>
          </p:cNvPr>
          <p:cNvSpPr/>
          <p:nvPr/>
        </p:nvSpPr>
        <p:spPr>
          <a:xfrm>
            <a:off x="108709" y="177089"/>
            <a:ext cx="1841487" cy="1243813"/>
          </a:xfrm>
          <a:custGeom>
            <a:avLst/>
            <a:gdLst/>
            <a:ahLst/>
            <a:cxnLst/>
            <a:rect l="l" t="t" r="r" b="b"/>
            <a:pathLst>
              <a:path w="1841487" h="1243813">
                <a:moveTo>
                  <a:pt x="0" y="0"/>
                </a:moveTo>
                <a:lnTo>
                  <a:pt x="1841487" y="0"/>
                </a:lnTo>
                <a:lnTo>
                  <a:pt x="1841487" y="1243812"/>
                </a:lnTo>
                <a:lnTo>
                  <a:pt x="0" y="1243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9" name="Group 77">
            <a:extLst>
              <a:ext uri="{FF2B5EF4-FFF2-40B4-BE49-F238E27FC236}">
                <a16:creationId xmlns:a16="http://schemas.microsoft.com/office/drawing/2014/main" id="{8F6C424B-2A4D-4553-B50F-4FBFE084DE83}"/>
              </a:ext>
            </a:extLst>
          </p:cNvPr>
          <p:cNvGrpSpPr/>
          <p:nvPr/>
        </p:nvGrpSpPr>
        <p:grpSpPr>
          <a:xfrm>
            <a:off x="172202" y="240592"/>
            <a:ext cx="1712986" cy="1116816"/>
            <a:chOff x="0" y="0"/>
            <a:chExt cx="1712989" cy="1116813"/>
          </a:xfrm>
        </p:grpSpPr>
        <p:sp>
          <p:nvSpPr>
            <p:cNvPr id="70" name="Freeform 78">
              <a:extLst>
                <a:ext uri="{FF2B5EF4-FFF2-40B4-BE49-F238E27FC236}">
                  <a16:creationId xmlns:a16="http://schemas.microsoft.com/office/drawing/2014/main" id="{3CE5C7E6-B58B-4D9F-AA4A-A4311A6A5949}"/>
                </a:ext>
              </a:extLst>
            </p:cNvPr>
            <p:cNvSpPr/>
            <p:nvPr/>
          </p:nvSpPr>
          <p:spPr>
            <a:xfrm>
              <a:off x="0" y="0"/>
              <a:ext cx="1712978" cy="1116834"/>
            </a:xfrm>
            <a:custGeom>
              <a:avLst/>
              <a:gdLst/>
              <a:ahLst/>
              <a:cxnLst/>
              <a:rect l="l" t="t" r="r" b="b"/>
              <a:pathLst>
                <a:path w="1712978" h="1116834">
                  <a:moveTo>
                    <a:pt x="0" y="1116834"/>
                  </a:moveTo>
                  <a:lnTo>
                    <a:pt x="1712978" y="1116834"/>
                  </a:lnTo>
                  <a:lnTo>
                    <a:pt x="17129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71" name="TextBox 99">
            <a:extLst>
              <a:ext uri="{FF2B5EF4-FFF2-40B4-BE49-F238E27FC236}">
                <a16:creationId xmlns:a16="http://schemas.microsoft.com/office/drawing/2014/main" id="{BEF23014-7DB5-4153-98C5-4F2F42A90CDC}"/>
              </a:ext>
            </a:extLst>
          </p:cNvPr>
          <p:cNvSpPr txBox="1"/>
          <p:nvPr/>
        </p:nvSpPr>
        <p:spPr>
          <a:xfrm>
            <a:off x="344706" y="628839"/>
            <a:ext cx="1374004" cy="32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52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COGNOVAX</a:t>
            </a:r>
          </a:p>
        </p:txBody>
      </p:sp>
      <p:grpSp>
        <p:nvGrpSpPr>
          <p:cNvPr id="64" name="Group 9">
            <a:extLst>
              <a:ext uri="{FF2B5EF4-FFF2-40B4-BE49-F238E27FC236}">
                <a16:creationId xmlns:a16="http://schemas.microsoft.com/office/drawing/2014/main" id="{E5875E1A-9536-DA10-B4BF-C42251CFA1BD}"/>
              </a:ext>
            </a:extLst>
          </p:cNvPr>
          <p:cNvGrpSpPr/>
          <p:nvPr/>
        </p:nvGrpSpPr>
        <p:grpSpPr>
          <a:xfrm>
            <a:off x="16967940" y="8674751"/>
            <a:ext cx="1320060" cy="1229439"/>
            <a:chOff x="0" y="0"/>
            <a:chExt cx="1760080" cy="1639252"/>
          </a:xfrm>
        </p:grpSpPr>
        <p:sp>
          <p:nvSpPr>
            <p:cNvPr id="72" name="Freeform 10">
              <a:extLst>
                <a:ext uri="{FF2B5EF4-FFF2-40B4-BE49-F238E27FC236}">
                  <a16:creationId xmlns:a16="http://schemas.microsoft.com/office/drawing/2014/main" id="{0C6F8E2A-73A6-E5F8-6F4A-EE676708EBE8}"/>
                </a:ext>
              </a:extLst>
            </p:cNvPr>
            <p:cNvSpPr/>
            <p:nvPr/>
          </p:nvSpPr>
          <p:spPr>
            <a:xfrm>
              <a:off x="0" y="0"/>
              <a:ext cx="1760093" cy="1639316"/>
            </a:xfrm>
            <a:custGeom>
              <a:avLst/>
              <a:gdLst/>
              <a:ahLst/>
              <a:cxnLst/>
              <a:rect l="l" t="t" r="r" b="b"/>
              <a:pathLst>
                <a:path w="1760093" h="1639316">
                  <a:moveTo>
                    <a:pt x="819658" y="0"/>
                  </a:moveTo>
                  <a:cubicBezTo>
                    <a:pt x="366903" y="0"/>
                    <a:pt x="0" y="366903"/>
                    <a:pt x="0" y="819658"/>
                  </a:cubicBezTo>
                  <a:cubicBezTo>
                    <a:pt x="0" y="1272413"/>
                    <a:pt x="366903" y="1639316"/>
                    <a:pt x="819658" y="1639316"/>
                  </a:cubicBezTo>
                  <a:lnTo>
                    <a:pt x="940435" y="1639316"/>
                  </a:lnTo>
                  <a:cubicBezTo>
                    <a:pt x="1393063" y="1639316"/>
                    <a:pt x="1760093" y="1272413"/>
                    <a:pt x="1760093" y="819658"/>
                  </a:cubicBezTo>
                  <a:cubicBezTo>
                    <a:pt x="1760093" y="366903"/>
                    <a:pt x="1393063" y="0"/>
                    <a:pt x="940435" y="0"/>
                  </a:cubicBezTo>
                  <a:close/>
                </a:path>
              </a:pathLst>
            </a:custGeom>
            <a:blipFill>
              <a:blip r:embed="rId8">
                <a:alphaModFix amt="75999"/>
              </a:blip>
              <a:stretch>
                <a:fillRect t="-2841" r="-127" b="-2956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6">
            <a:extLst>
              <a:ext uri="{FF2B5EF4-FFF2-40B4-BE49-F238E27FC236}">
                <a16:creationId xmlns:a16="http://schemas.microsoft.com/office/drawing/2014/main" id="{47943A3B-9784-A6BD-9546-730EE0A7AD87}"/>
              </a:ext>
            </a:extLst>
          </p:cNvPr>
          <p:cNvGrpSpPr/>
          <p:nvPr/>
        </p:nvGrpSpPr>
        <p:grpSpPr>
          <a:xfrm>
            <a:off x="0" y="9890808"/>
            <a:ext cx="18288000" cy="396192"/>
            <a:chOff x="0" y="0"/>
            <a:chExt cx="18288000" cy="396189"/>
          </a:xfrm>
        </p:grpSpPr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93D0C759-02C9-3AB0-4A3E-9A860F5F6832}"/>
                </a:ext>
              </a:extLst>
            </p:cNvPr>
            <p:cNvSpPr/>
            <p:nvPr/>
          </p:nvSpPr>
          <p:spPr>
            <a:xfrm>
              <a:off x="0" y="0"/>
              <a:ext cx="18288000" cy="396237"/>
            </a:xfrm>
            <a:custGeom>
              <a:avLst/>
              <a:gdLst/>
              <a:ahLst/>
              <a:cxnLst/>
              <a:rect l="l" t="t" r="r" b="b"/>
              <a:pathLst>
                <a:path w="18288000" h="396237">
                  <a:moveTo>
                    <a:pt x="0" y="0"/>
                  </a:moveTo>
                  <a:lnTo>
                    <a:pt x="0" y="396237"/>
                  </a:lnTo>
                  <a:lnTo>
                    <a:pt x="18288000" y="396237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4" name="TextBox 25">
            <a:extLst>
              <a:ext uri="{FF2B5EF4-FFF2-40B4-BE49-F238E27FC236}">
                <a16:creationId xmlns:a16="http://schemas.microsoft.com/office/drawing/2014/main" id="{17072DAB-7A75-9BDC-A6C1-66F0233EE757}"/>
              </a:ext>
            </a:extLst>
          </p:cNvPr>
          <p:cNvSpPr txBox="1"/>
          <p:nvPr/>
        </p:nvSpPr>
        <p:spPr>
          <a:xfrm>
            <a:off x="7711897" y="9873729"/>
            <a:ext cx="2375097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588326" y="4025894"/>
            <a:ext cx="2584399" cy="2406987"/>
            <a:chOff x="0" y="0"/>
            <a:chExt cx="3445866" cy="32093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45891" cy="3209290"/>
            </a:xfrm>
            <a:custGeom>
              <a:avLst/>
              <a:gdLst/>
              <a:ahLst/>
              <a:cxnLst/>
              <a:rect l="l" t="t" r="r" b="b"/>
              <a:pathLst>
                <a:path w="3445891" h="3209290">
                  <a:moveTo>
                    <a:pt x="1270000" y="0"/>
                  </a:moveTo>
                  <a:cubicBezTo>
                    <a:pt x="568579" y="0"/>
                    <a:pt x="0" y="568579"/>
                    <a:pt x="0" y="1270000"/>
                  </a:cubicBezTo>
                  <a:lnTo>
                    <a:pt x="0" y="1939290"/>
                  </a:lnTo>
                  <a:cubicBezTo>
                    <a:pt x="0" y="2640711"/>
                    <a:pt x="568579" y="3209290"/>
                    <a:pt x="1270000" y="3209290"/>
                  </a:cubicBezTo>
                  <a:lnTo>
                    <a:pt x="2175891" y="3209290"/>
                  </a:lnTo>
                  <a:cubicBezTo>
                    <a:pt x="2877312" y="3209290"/>
                    <a:pt x="3445891" y="2640711"/>
                    <a:pt x="3445891" y="1939290"/>
                  </a:cubicBezTo>
                  <a:lnTo>
                    <a:pt x="3445891" y="1270000"/>
                  </a:lnTo>
                  <a:cubicBezTo>
                    <a:pt x="3445891" y="568579"/>
                    <a:pt x="2877312" y="0"/>
                    <a:pt x="2175891" y="0"/>
                  </a:cubicBezTo>
                  <a:close/>
                </a:path>
              </a:pathLst>
            </a:custGeom>
            <a:blipFill>
              <a:blip r:embed="rId4">
                <a:alphaModFix amt="75999"/>
              </a:blip>
              <a:stretch>
                <a:fillRect t="-2841" r="-127" b="-2961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6833618" y="9911048"/>
            <a:ext cx="129683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516377A3-B417-4A10-9E88-F808DED346BF}"/>
              </a:ext>
            </a:extLst>
          </p:cNvPr>
          <p:cNvSpPr/>
          <p:nvPr/>
        </p:nvSpPr>
        <p:spPr>
          <a:xfrm>
            <a:off x="108709" y="177089"/>
            <a:ext cx="1841487" cy="1243813"/>
          </a:xfrm>
          <a:custGeom>
            <a:avLst/>
            <a:gdLst/>
            <a:ahLst/>
            <a:cxnLst/>
            <a:rect l="l" t="t" r="r" b="b"/>
            <a:pathLst>
              <a:path w="1841487" h="1243813">
                <a:moveTo>
                  <a:pt x="0" y="0"/>
                </a:moveTo>
                <a:lnTo>
                  <a:pt x="1841487" y="0"/>
                </a:lnTo>
                <a:lnTo>
                  <a:pt x="1841487" y="1243812"/>
                </a:lnTo>
                <a:lnTo>
                  <a:pt x="0" y="1243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77">
            <a:extLst>
              <a:ext uri="{FF2B5EF4-FFF2-40B4-BE49-F238E27FC236}">
                <a16:creationId xmlns:a16="http://schemas.microsoft.com/office/drawing/2014/main" id="{5DDC3DAB-113D-4604-A1A1-9911F5D35E18}"/>
              </a:ext>
            </a:extLst>
          </p:cNvPr>
          <p:cNvGrpSpPr/>
          <p:nvPr/>
        </p:nvGrpSpPr>
        <p:grpSpPr>
          <a:xfrm>
            <a:off x="172202" y="240592"/>
            <a:ext cx="1712986" cy="1116816"/>
            <a:chOff x="0" y="0"/>
            <a:chExt cx="1712989" cy="1116813"/>
          </a:xfrm>
        </p:grpSpPr>
        <p:sp>
          <p:nvSpPr>
            <p:cNvPr id="20" name="Freeform 78">
              <a:extLst>
                <a:ext uri="{FF2B5EF4-FFF2-40B4-BE49-F238E27FC236}">
                  <a16:creationId xmlns:a16="http://schemas.microsoft.com/office/drawing/2014/main" id="{352A0D72-36E7-44F6-AB24-49C3AFEED7CA}"/>
                </a:ext>
              </a:extLst>
            </p:cNvPr>
            <p:cNvSpPr/>
            <p:nvPr/>
          </p:nvSpPr>
          <p:spPr>
            <a:xfrm>
              <a:off x="0" y="0"/>
              <a:ext cx="1712978" cy="1116834"/>
            </a:xfrm>
            <a:custGeom>
              <a:avLst/>
              <a:gdLst/>
              <a:ahLst/>
              <a:cxnLst/>
              <a:rect l="l" t="t" r="r" b="b"/>
              <a:pathLst>
                <a:path w="1712978" h="1116834">
                  <a:moveTo>
                    <a:pt x="0" y="1116834"/>
                  </a:moveTo>
                  <a:lnTo>
                    <a:pt x="1712978" y="1116834"/>
                  </a:lnTo>
                  <a:lnTo>
                    <a:pt x="17129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1" name="TextBox 99">
            <a:extLst>
              <a:ext uri="{FF2B5EF4-FFF2-40B4-BE49-F238E27FC236}">
                <a16:creationId xmlns:a16="http://schemas.microsoft.com/office/drawing/2014/main" id="{775DA5CF-9097-4FF8-9847-A0BD42AAA0F5}"/>
              </a:ext>
            </a:extLst>
          </p:cNvPr>
          <p:cNvSpPr txBox="1"/>
          <p:nvPr/>
        </p:nvSpPr>
        <p:spPr>
          <a:xfrm>
            <a:off x="344706" y="628839"/>
            <a:ext cx="1374004" cy="32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52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COGNOVAX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C646FF-1785-0B91-6CE0-AAB85814998E}"/>
              </a:ext>
            </a:extLst>
          </p:cNvPr>
          <p:cNvSpPr/>
          <p:nvPr/>
        </p:nvSpPr>
        <p:spPr>
          <a:xfrm>
            <a:off x="14478000" y="49217"/>
            <a:ext cx="3637798" cy="1589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4" name="Group 2">
            <a:extLst>
              <a:ext uri="{FF2B5EF4-FFF2-40B4-BE49-F238E27FC236}">
                <a16:creationId xmlns:a16="http://schemas.microsoft.com/office/drawing/2014/main" id="{46909F4D-5A11-2ECC-133E-61FC7C996633}"/>
              </a:ext>
            </a:extLst>
          </p:cNvPr>
          <p:cNvGrpSpPr/>
          <p:nvPr/>
        </p:nvGrpSpPr>
        <p:grpSpPr>
          <a:xfrm>
            <a:off x="14630400" y="44796"/>
            <a:ext cx="3373745" cy="1593504"/>
            <a:chOff x="0" y="0"/>
            <a:chExt cx="4498327" cy="2124672"/>
          </a:xfrm>
        </p:grpSpPr>
        <p:sp>
          <p:nvSpPr>
            <p:cNvPr id="25" name="Freeform 3">
              <a:extLst>
                <a:ext uri="{FF2B5EF4-FFF2-40B4-BE49-F238E27FC236}">
                  <a16:creationId xmlns:a16="http://schemas.microsoft.com/office/drawing/2014/main" id="{5D2FC24C-4D3C-D76E-94E0-54A767BF8517}"/>
                </a:ext>
              </a:extLst>
            </p:cNvPr>
            <p:cNvSpPr/>
            <p:nvPr/>
          </p:nvSpPr>
          <p:spPr>
            <a:xfrm>
              <a:off x="0" y="0"/>
              <a:ext cx="4498340" cy="2124710"/>
            </a:xfrm>
            <a:custGeom>
              <a:avLst/>
              <a:gdLst/>
              <a:ahLst/>
              <a:cxnLst/>
              <a:rect l="l" t="t" r="r" b="b"/>
              <a:pathLst>
                <a:path w="4498340" h="212471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grpSp>
        <p:nvGrpSpPr>
          <p:cNvPr id="26" name="Group 9">
            <a:extLst>
              <a:ext uri="{FF2B5EF4-FFF2-40B4-BE49-F238E27FC236}">
                <a16:creationId xmlns:a16="http://schemas.microsoft.com/office/drawing/2014/main" id="{A8309DC5-017D-EFA6-9E7E-B3DF16291725}"/>
              </a:ext>
            </a:extLst>
          </p:cNvPr>
          <p:cNvGrpSpPr/>
          <p:nvPr/>
        </p:nvGrpSpPr>
        <p:grpSpPr>
          <a:xfrm>
            <a:off x="16967940" y="8674751"/>
            <a:ext cx="1320060" cy="1229439"/>
            <a:chOff x="0" y="0"/>
            <a:chExt cx="1760080" cy="1639252"/>
          </a:xfrm>
        </p:grpSpPr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6FAFB8DE-D174-2FBB-C90C-3063CD4B4239}"/>
                </a:ext>
              </a:extLst>
            </p:cNvPr>
            <p:cNvSpPr/>
            <p:nvPr/>
          </p:nvSpPr>
          <p:spPr>
            <a:xfrm>
              <a:off x="0" y="0"/>
              <a:ext cx="1760093" cy="1639316"/>
            </a:xfrm>
            <a:custGeom>
              <a:avLst/>
              <a:gdLst/>
              <a:ahLst/>
              <a:cxnLst/>
              <a:rect l="l" t="t" r="r" b="b"/>
              <a:pathLst>
                <a:path w="1760093" h="1639316">
                  <a:moveTo>
                    <a:pt x="819658" y="0"/>
                  </a:moveTo>
                  <a:cubicBezTo>
                    <a:pt x="366903" y="0"/>
                    <a:pt x="0" y="366903"/>
                    <a:pt x="0" y="819658"/>
                  </a:cubicBezTo>
                  <a:cubicBezTo>
                    <a:pt x="0" y="1272413"/>
                    <a:pt x="366903" y="1639316"/>
                    <a:pt x="819658" y="1639316"/>
                  </a:cubicBezTo>
                  <a:lnTo>
                    <a:pt x="940435" y="1639316"/>
                  </a:lnTo>
                  <a:cubicBezTo>
                    <a:pt x="1393063" y="1639316"/>
                    <a:pt x="1760093" y="1272413"/>
                    <a:pt x="1760093" y="819658"/>
                  </a:cubicBezTo>
                  <a:cubicBezTo>
                    <a:pt x="1760093" y="366903"/>
                    <a:pt x="1393063" y="0"/>
                    <a:pt x="940435" y="0"/>
                  </a:cubicBezTo>
                  <a:close/>
                </a:path>
              </a:pathLst>
            </a:custGeom>
            <a:blipFill>
              <a:blip r:embed="rId4">
                <a:alphaModFix amt="75999"/>
              </a:blip>
              <a:stretch>
                <a:fillRect t="-2841" r="-127" b="-2956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6">
            <a:extLst>
              <a:ext uri="{FF2B5EF4-FFF2-40B4-BE49-F238E27FC236}">
                <a16:creationId xmlns:a16="http://schemas.microsoft.com/office/drawing/2014/main" id="{D9B23A18-0A5B-AAC1-FEFD-F4250080C817}"/>
              </a:ext>
            </a:extLst>
          </p:cNvPr>
          <p:cNvGrpSpPr/>
          <p:nvPr/>
        </p:nvGrpSpPr>
        <p:grpSpPr>
          <a:xfrm>
            <a:off x="0" y="9890808"/>
            <a:ext cx="18288000" cy="396192"/>
            <a:chOff x="0" y="0"/>
            <a:chExt cx="18288000" cy="396189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AA692F7-98F7-D350-B9BE-531A8A823214}"/>
                </a:ext>
              </a:extLst>
            </p:cNvPr>
            <p:cNvSpPr/>
            <p:nvPr/>
          </p:nvSpPr>
          <p:spPr>
            <a:xfrm>
              <a:off x="0" y="0"/>
              <a:ext cx="18288000" cy="396237"/>
            </a:xfrm>
            <a:custGeom>
              <a:avLst/>
              <a:gdLst/>
              <a:ahLst/>
              <a:cxnLst/>
              <a:rect l="l" t="t" r="r" b="b"/>
              <a:pathLst>
                <a:path w="18288000" h="396237">
                  <a:moveTo>
                    <a:pt x="0" y="0"/>
                  </a:moveTo>
                  <a:lnTo>
                    <a:pt x="0" y="396237"/>
                  </a:lnTo>
                  <a:lnTo>
                    <a:pt x="18288000" y="396237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1" name="TextBox 25">
            <a:extLst>
              <a:ext uri="{FF2B5EF4-FFF2-40B4-BE49-F238E27FC236}">
                <a16:creationId xmlns:a16="http://schemas.microsoft.com/office/drawing/2014/main" id="{FBCEF550-E070-4F7F-F3F5-E02D4F949693}"/>
              </a:ext>
            </a:extLst>
          </p:cNvPr>
          <p:cNvSpPr txBox="1"/>
          <p:nvPr/>
        </p:nvSpPr>
        <p:spPr>
          <a:xfrm>
            <a:off x="7711897" y="9873729"/>
            <a:ext cx="2375097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14670129" y="2248"/>
            <a:ext cx="3373745" cy="1593504"/>
            <a:chOff x="0" y="0"/>
            <a:chExt cx="4498327" cy="21246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8340" cy="2124710"/>
            </a:xfrm>
            <a:custGeom>
              <a:avLst/>
              <a:gdLst/>
              <a:ahLst/>
              <a:cxnLst/>
              <a:rect l="l" t="t" r="r" b="b"/>
              <a:pathLst>
                <a:path w="4498340" h="212471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3932930" y="322478"/>
            <a:ext cx="10630386" cy="94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4857" y="1820285"/>
            <a:ext cx="3454622" cy="34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 dirty="0">
                <a:solidFill>
                  <a:srgbClr val="1F3864"/>
                </a:solidFill>
                <a:latin typeface="Arial Bold"/>
                <a:ea typeface="Arial Bold"/>
                <a:cs typeface="Arial Bold"/>
                <a:sym typeface="Arial Bold"/>
              </a:rPr>
              <a:t>1. World Health Organization. </a:t>
            </a:r>
            <a:endParaRPr lang="en-US" sz="1875" b="1" dirty="0">
              <a:solidFill>
                <a:srgbClr val="1F3864"/>
              </a:solidFill>
              <a:latin typeface="Arial Bold"/>
              <a:ea typeface="Arial Bold"/>
              <a:cs typeface="Arial Bold"/>
              <a:sym typeface="Arial Bold"/>
              <a:hlinkClick r:id="rId4" tooltip="https://www.who.int/news-room/fact-sheets/detail/dementia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14400" y="6194237"/>
            <a:ext cx="14722773" cy="638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5"/>
              </a:lnSpc>
            </a:pPr>
            <a:r>
              <a:rPr lang="en-US" sz="1875" b="1" dirty="0">
                <a:solidFill>
                  <a:srgbClr val="1F3864"/>
                </a:solidFill>
                <a:latin typeface="Arial Bold"/>
                <a:ea typeface="Arial Bold"/>
                <a:cs typeface="Arial Bold"/>
                <a:sym typeface="Arial Bold"/>
              </a:rPr>
              <a:t>5. JMIR Research Protocols (2022). </a:t>
            </a:r>
            <a:r>
              <a:rPr lang="en-US" sz="1875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Support: online training &amp; support </a:t>
            </a:r>
            <a:r>
              <a:rPr lang="en-US" sz="1875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programme</a:t>
            </a:r>
            <a:r>
              <a:rPr lang="en-US" sz="1875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for dementia caregivers in India — RCT protocol.</a:t>
            </a:r>
          </a:p>
          <a:p>
            <a:pPr algn="l">
              <a:lnSpc>
                <a:spcPts val="2625"/>
              </a:lnSpc>
            </a:pPr>
            <a:r>
              <a:rPr lang="en-US" sz="1875" b="1" dirty="0">
                <a:solidFill>
                  <a:srgbClr val="1F386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endParaRPr lang="en-US" sz="1875" b="1" dirty="0">
              <a:solidFill>
                <a:srgbClr val="1F3864"/>
              </a:solidFill>
              <a:latin typeface="Arial Bold"/>
              <a:ea typeface="Arial Bold"/>
              <a:cs typeface="Arial Bold"/>
              <a:sym typeface="Arial Bold"/>
              <a:hlinkClick r:id="rId5" tooltip="https://www.ncbi.nlm.nih.gov/pmc/articles/PMC5941472/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14400" y="3971848"/>
            <a:ext cx="14497823" cy="638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5"/>
              </a:lnSpc>
            </a:pPr>
            <a:r>
              <a:rPr lang="en-US" sz="1875" b="1" dirty="0">
                <a:solidFill>
                  <a:srgbClr val="1F3864"/>
                </a:solidFill>
                <a:latin typeface="Arial Bold"/>
                <a:ea typeface="Arial Bold"/>
                <a:cs typeface="Arial Bold"/>
                <a:sym typeface="Arial Bold"/>
              </a:rPr>
              <a:t>3. BMC Health Services Research (2024). </a:t>
            </a:r>
            <a:r>
              <a:rPr lang="en-US" sz="1875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Caregivers' experiences, challenges &amp; needs in dementia care in India — a scoping review.</a:t>
            </a:r>
          </a:p>
          <a:p>
            <a:pPr algn="l">
              <a:lnSpc>
                <a:spcPts val="2625"/>
              </a:lnSpc>
            </a:pPr>
            <a:r>
              <a:rPr lang="en-US" sz="1875" b="1" dirty="0">
                <a:solidFill>
                  <a:srgbClr val="1F386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endParaRPr lang="en-US" sz="1875" b="1" dirty="0">
              <a:solidFill>
                <a:srgbClr val="1F3864"/>
              </a:solidFill>
              <a:latin typeface="Arial Bold"/>
              <a:ea typeface="Arial Bold"/>
              <a:cs typeface="Arial Bold"/>
              <a:sym typeface="Arial Bold"/>
              <a:hlinkClick r:id="rId6" tooltip="https://link.springer.com/article/10.1186/s12913-024-12146-x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14400" y="5287048"/>
            <a:ext cx="16219015" cy="256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37"/>
              </a:lnSpc>
            </a:pPr>
            <a:r>
              <a:rPr lang="en-US" sz="1875" b="1" dirty="0">
                <a:solidFill>
                  <a:srgbClr val="1F3864"/>
                </a:solidFill>
                <a:latin typeface="Arial Bold"/>
                <a:ea typeface="Arial Bold"/>
                <a:cs typeface="Arial Bold"/>
                <a:sym typeface="Arial Bold"/>
              </a:rPr>
              <a:t>4. PMC / ICMR-Forte, Indo-Sweden collaboration (2025). </a:t>
            </a:r>
            <a:r>
              <a:rPr lang="en-US" sz="1875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mHealth intervention by community workers to support family dementia caregivers —</a:t>
            </a:r>
          </a:p>
          <a:p>
            <a:pPr algn="l">
              <a:lnSpc>
                <a:spcPts val="937"/>
              </a:lnSpc>
            </a:pPr>
            <a:endParaRPr lang="en-US" sz="1875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301890" y="1807959"/>
            <a:ext cx="3847062" cy="34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Dementia — Key Facts (fact sheet).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4857" y="2765966"/>
            <a:ext cx="14836464" cy="570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1" dirty="0">
                <a:solidFill>
                  <a:srgbClr val="1F3864"/>
                </a:solidFill>
                <a:latin typeface="Arial Bold"/>
                <a:ea typeface="Arial Bold"/>
                <a:cs typeface="Arial Bold"/>
                <a:sym typeface="Arial Bold"/>
              </a:rPr>
              <a:t>2. JMIR Serious Games (2022). </a:t>
            </a:r>
            <a:r>
              <a:rPr lang="en-US" sz="1875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Effectiveness &amp; safety of serious/cognitive-training games for elderly people with cognitive impairment — 	systematic review &amp; meta-analysis.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16528" y="6796603"/>
            <a:ext cx="5333924" cy="30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5" tooltip="https://www.ncbi.nlm.nih.gov/pmc/articles/PMC5941472/"/>
              </a:rPr>
              <a:t>https://www.ncbi.nlm.nih.gov/pmc/articles/PMC5941472/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3154" y="2162887"/>
            <a:ext cx="5571563" cy="30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 tooltip="https://www.who.int/news-room/fact-sheets/detail/dementia"/>
              </a:rPr>
              <a:t>https://www.who.int/news-room/fact-sheets/detail/dementia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16528" y="4396440"/>
            <a:ext cx="5750547" cy="30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6" tooltip="https://link.springer.com/article/10.1186/s12913-024-12146-x"/>
              </a:rPr>
              <a:t>https://link.springer.com/article/10.1186/s12913-024-12146-x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833618" y="9927784"/>
            <a:ext cx="1296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6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63590DC1-A03F-48BA-AAC6-E464FE125659}"/>
              </a:ext>
            </a:extLst>
          </p:cNvPr>
          <p:cNvSpPr/>
          <p:nvPr/>
        </p:nvSpPr>
        <p:spPr>
          <a:xfrm>
            <a:off x="108709" y="177089"/>
            <a:ext cx="1841487" cy="1243813"/>
          </a:xfrm>
          <a:custGeom>
            <a:avLst/>
            <a:gdLst/>
            <a:ahLst/>
            <a:cxnLst/>
            <a:rect l="l" t="t" r="r" b="b"/>
            <a:pathLst>
              <a:path w="1841487" h="1243813">
                <a:moveTo>
                  <a:pt x="0" y="0"/>
                </a:moveTo>
                <a:lnTo>
                  <a:pt x="1841487" y="0"/>
                </a:lnTo>
                <a:lnTo>
                  <a:pt x="1841487" y="1243812"/>
                </a:lnTo>
                <a:lnTo>
                  <a:pt x="0" y="1243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77">
            <a:extLst>
              <a:ext uri="{FF2B5EF4-FFF2-40B4-BE49-F238E27FC236}">
                <a16:creationId xmlns:a16="http://schemas.microsoft.com/office/drawing/2014/main" id="{41556341-6D93-43C8-A333-384372BFF0B2}"/>
              </a:ext>
            </a:extLst>
          </p:cNvPr>
          <p:cNvGrpSpPr/>
          <p:nvPr/>
        </p:nvGrpSpPr>
        <p:grpSpPr>
          <a:xfrm>
            <a:off x="172202" y="240592"/>
            <a:ext cx="1712986" cy="1116816"/>
            <a:chOff x="0" y="0"/>
            <a:chExt cx="1712989" cy="1116813"/>
          </a:xfrm>
        </p:grpSpPr>
        <p:sp>
          <p:nvSpPr>
            <p:cNvPr id="45" name="Freeform 78">
              <a:extLst>
                <a:ext uri="{FF2B5EF4-FFF2-40B4-BE49-F238E27FC236}">
                  <a16:creationId xmlns:a16="http://schemas.microsoft.com/office/drawing/2014/main" id="{3B12E12E-8B72-4FEB-AE60-1B78EB189B6C}"/>
                </a:ext>
              </a:extLst>
            </p:cNvPr>
            <p:cNvSpPr/>
            <p:nvPr/>
          </p:nvSpPr>
          <p:spPr>
            <a:xfrm>
              <a:off x="0" y="0"/>
              <a:ext cx="1712978" cy="1116834"/>
            </a:xfrm>
            <a:custGeom>
              <a:avLst/>
              <a:gdLst/>
              <a:ahLst/>
              <a:cxnLst/>
              <a:rect l="l" t="t" r="r" b="b"/>
              <a:pathLst>
                <a:path w="1712978" h="1116834">
                  <a:moveTo>
                    <a:pt x="0" y="1116834"/>
                  </a:moveTo>
                  <a:lnTo>
                    <a:pt x="1712978" y="1116834"/>
                  </a:lnTo>
                  <a:lnTo>
                    <a:pt x="17129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6" name="TextBox 99">
            <a:extLst>
              <a:ext uri="{FF2B5EF4-FFF2-40B4-BE49-F238E27FC236}">
                <a16:creationId xmlns:a16="http://schemas.microsoft.com/office/drawing/2014/main" id="{66C6A10B-5CEA-4EC1-BB09-2C987A499371}"/>
              </a:ext>
            </a:extLst>
          </p:cNvPr>
          <p:cNvSpPr txBox="1"/>
          <p:nvPr/>
        </p:nvSpPr>
        <p:spPr>
          <a:xfrm>
            <a:off x="344706" y="628839"/>
            <a:ext cx="1374004" cy="32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52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COGNOVAX</a:t>
            </a:r>
          </a:p>
        </p:txBody>
      </p:sp>
      <p:sp>
        <p:nvSpPr>
          <p:cNvPr id="47" name="TextBox 24">
            <a:extLst>
              <a:ext uri="{FF2B5EF4-FFF2-40B4-BE49-F238E27FC236}">
                <a16:creationId xmlns:a16="http://schemas.microsoft.com/office/drawing/2014/main" id="{23D1DA64-B081-40D8-8A1C-6734C568D14A}"/>
              </a:ext>
            </a:extLst>
          </p:cNvPr>
          <p:cNvSpPr txBox="1"/>
          <p:nvPr/>
        </p:nvSpPr>
        <p:spPr>
          <a:xfrm>
            <a:off x="914400" y="7483471"/>
            <a:ext cx="5410200" cy="304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 dirty="0">
                <a:solidFill>
                  <a:srgbClr val="1F3864"/>
                </a:solidFill>
                <a:latin typeface="Arial Bold"/>
                <a:ea typeface="Arial Bold"/>
                <a:cs typeface="Arial Bold"/>
                <a:sym typeface="Arial Bold"/>
              </a:rPr>
              <a:t>6. Prototype YouTube Video Link. </a:t>
            </a:r>
            <a:endParaRPr lang="en-US" sz="1875" b="1" dirty="0">
              <a:solidFill>
                <a:srgbClr val="1F3864"/>
              </a:solidFill>
              <a:latin typeface="Arial Bold"/>
              <a:ea typeface="Arial Bold"/>
              <a:cs typeface="Arial Bold"/>
              <a:sym typeface="Arial Bold"/>
              <a:hlinkClick r:id="rId5" tooltip="https://www.ncbi.nlm.nih.gov/pmc/articles/PMC5941472/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4AC8BC-3FE9-4E09-A93B-C5D7CCE4E161}"/>
              </a:ext>
            </a:extLst>
          </p:cNvPr>
          <p:cNvSpPr txBox="1"/>
          <p:nvPr/>
        </p:nvSpPr>
        <p:spPr>
          <a:xfrm>
            <a:off x="1216528" y="5558953"/>
            <a:ext cx="8682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8"/>
              </a:rPr>
              <a:t>https://pmc.ncbi.nlm.nih.gov/articles/PMC11749876/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62BEC8-1E16-4BBC-B100-F8C8FDBF0612}"/>
              </a:ext>
            </a:extLst>
          </p:cNvPr>
          <p:cNvSpPr txBox="1"/>
          <p:nvPr/>
        </p:nvSpPr>
        <p:spPr>
          <a:xfrm>
            <a:off x="1216528" y="3407354"/>
            <a:ext cx="5419804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9" tooltip="https://games.jmir.org/2022/1/e34592"/>
              </a:rPr>
              <a:t>https://games.jmir.org/2022/1/e34592</a:t>
            </a:r>
          </a:p>
        </p:txBody>
      </p:sp>
      <p:sp>
        <p:nvSpPr>
          <p:cNvPr id="29" name="TextBox 34">
            <a:extLst>
              <a:ext uri="{FF2B5EF4-FFF2-40B4-BE49-F238E27FC236}">
                <a16:creationId xmlns:a16="http://schemas.microsoft.com/office/drawing/2014/main" id="{15AA8AFD-5846-4DD5-9A78-1ACAA87EBBAC}"/>
              </a:ext>
            </a:extLst>
          </p:cNvPr>
          <p:cNvSpPr txBox="1"/>
          <p:nvPr/>
        </p:nvSpPr>
        <p:spPr>
          <a:xfrm>
            <a:off x="1223154" y="7896695"/>
            <a:ext cx="5333924" cy="26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5" tooltip="https://www.ncbi.nlm.nih.gov/pmc/articles/PMC5941472/"/>
              </a:rPr>
              <a:t>https://www.youtube.com/watch?v=</a:t>
            </a:r>
          </a:p>
        </p:txBody>
      </p:sp>
      <p:grpSp>
        <p:nvGrpSpPr>
          <p:cNvPr id="12" name="Group 9">
            <a:extLst>
              <a:ext uri="{FF2B5EF4-FFF2-40B4-BE49-F238E27FC236}">
                <a16:creationId xmlns:a16="http://schemas.microsoft.com/office/drawing/2014/main" id="{8D6F9282-F441-1602-2AAB-7C56E09C2D04}"/>
              </a:ext>
            </a:extLst>
          </p:cNvPr>
          <p:cNvGrpSpPr/>
          <p:nvPr/>
        </p:nvGrpSpPr>
        <p:grpSpPr>
          <a:xfrm>
            <a:off x="16967940" y="8674751"/>
            <a:ext cx="1320060" cy="1229439"/>
            <a:chOff x="0" y="0"/>
            <a:chExt cx="1760080" cy="1639252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FBC5D33A-C15B-AE3D-3D3D-DE5C95F92951}"/>
                </a:ext>
              </a:extLst>
            </p:cNvPr>
            <p:cNvSpPr/>
            <p:nvPr/>
          </p:nvSpPr>
          <p:spPr>
            <a:xfrm>
              <a:off x="0" y="0"/>
              <a:ext cx="1760093" cy="1639316"/>
            </a:xfrm>
            <a:custGeom>
              <a:avLst/>
              <a:gdLst/>
              <a:ahLst/>
              <a:cxnLst/>
              <a:rect l="l" t="t" r="r" b="b"/>
              <a:pathLst>
                <a:path w="1760093" h="1639316">
                  <a:moveTo>
                    <a:pt x="819658" y="0"/>
                  </a:moveTo>
                  <a:cubicBezTo>
                    <a:pt x="366903" y="0"/>
                    <a:pt x="0" y="366903"/>
                    <a:pt x="0" y="819658"/>
                  </a:cubicBezTo>
                  <a:cubicBezTo>
                    <a:pt x="0" y="1272413"/>
                    <a:pt x="366903" y="1639316"/>
                    <a:pt x="819658" y="1639316"/>
                  </a:cubicBezTo>
                  <a:lnTo>
                    <a:pt x="940435" y="1639316"/>
                  </a:lnTo>
                  <a:cubicBezTo>
                    <a:pt x="1393063" y="1639316"/>
                    <a:pt x="1760093" y="1272413"/>
                    <a:pt x="1760093" y="819658"/>
                  </a:cubicBezTo>
                  <a:cubicBezTo>
                    <a:pt x="1760093" y="366903"/>
                    <a:pt x="1393063" y="0"/>
                    <a:pt x="940435" y="0"/>
                  </a:cubicBezTo>
                  <a:close/>
                </a:path>
              </a:pathLst>
            </a:custGeom>
            <a:blipFill>
              <a:blip r:embed="rId10">
                <a:alphaModFix amt="75999"/>
              </a:blip>
              <a:stretch>
                <a:fillRect t="-2841" r="-127" b="-295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625</Words>
  <Application>Microsoft Office PowerPoint</Application>
  <PresentationFormat>Custom</PresentationFormat>
  <Paragraphs>101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 Bold</vt:lpstr>
      <vt:lpstr>Times New Roman Bold</vt:lpstr>
      <vt:lpstr>Garamond Bold</vt:lpstr>
      <vt:lpstr>Calibri (MS) Bold</vt:lpstr>
      <vt:lpstr>Arial</vt:lpstr>
      <vt:lpstr>Calibri (MS)</vt:lpstr>
      <vt:lpstr>Arimo Bold</vt:lpstr>
      <vt:lpstr>Calibri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SIH.pdf</dc:title>
  <cp:lastModifiedBy>ai user</cp:lastModifiedBy>
  <cp:revision>12</cp:revision>
  <dcterms:created xsi:type="dcterms:W3CDTF">2006-08-16T00:00:00Z</dcterms:created>
  <dcterms:modified xsi:type="dcterms:W3CDTF">2026-09-24T14:42:56Z</dcterms:modified>
  <dc:identifier>DAHV8UBI_y0</dc:identifier>
</cp:coreProperties>
</file>