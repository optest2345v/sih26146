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772400" cy="9601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SMART INDIA HACKATHON 2026</a:t>
            </a:r>
          </a:p>
          <a:p>
            <a:pPr algn="l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OFFICIAL IDEA / SOLUTION PROPOSAL SUBMISSION</a:t>
            </a:r>
          </a:p>
        </p:txBody>
      </p:sp>
      <p:pic>
        <p:nvPicPr>
          <p:cNvPr id="4" name="Picture 3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30552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46304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400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/>
          <a:lstStyle/>
          <a:p>
            <a:pPr algn="l">
              <a:spcAft>
                <a:spcPts val="4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PROBLEM STATEMENT ID: SIH26146</a:t>
            </a:r>
          </a:p>
          <a:p>
            <a:pPr algn="l">
              <a:spcAft>
                <a:spcPts val="14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AI-Powered Monitoring &amp; Analysis of Bitcoin Transaction Traffic</a:t>
            </a:r>
          </a:p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MINISTRY / SPONSORING ORGANISATION</a:t>
            </a:r>
          </a:p>
          <a:p>
            <a:pPr algn="l">
              <a:spcAft>
                <a:spcPts val="800"/>
              </a:spcAft>
              <a:defRPr sz="1250" b="1">
                <a:solidFill>
                  <a:srgbClr val="D97706"/>
                </a:solidFill>
                <a:latin typeface="Segoe UI"/>
              </a:defRPr>
            </a:pPr>
            <a:r>
              <a:t>National Technical Research Organisation (NTRO)</a:t>
            </a:r>
          </a:p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THEME</a:t>
            </a:r>
          </a:p>
          <a:p>
            <a:pPr algn="l">
              <a:spcAft>
                <a:spcPts val="800"/>
              </a:spcAft>
              <a:defRPr sz="1250" b="1">
                <a:solidFill>
                  <a:srgbClr val="10B981"/>
                </a:solidFill>
                <a:latin typeface="Segoe UI"/>
              </a:defRPr>
            </a:pPr>
            <a:r>
              <a:t>Security &amp; Surveillance / Cybersecurity</a:t>
            </a:r>
          </a:p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CATEGORY</a:t>
            </a:r>
          </a:p>
          <a:p>
            <a:pPr algn="l">
              <a:spcAft>
                <a:spcPts val="800"/>
              </a:spcAft>
              <a:defRPr sz="1250" b="1">
                <a:solidFill>
                  <a:srgbClr val="1E293B"/>
                </a:solidFill>
                <a:latin typeface="Segoe UI"/>
              </a:defRPr>
            </a:pPr>
            <a:r>
              <a:t>Software (Offline Forensic Intelligence)</a:t>
            </a:r>
          </a:p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OPERATIONAL MANDATE</a:t>
            </a:r>
          </a:p>
          <a:p>
            <a:pPr algn="l">
              <a:spcAft>
                <a:spcPts val="800"/>
              </a:spcAft>
              <a:defRPr sz="1250" b="1">
                <a:solidFill>
                  <a:srgbClr val="0284C7"/>
                </a:solidFill>
                <a:latin typeface="Segoe UI"/>
              </a:defRPr>
            </a:pPr>
            <a:r>
              <a:t>100% Strict Air-Gapped Linux &amp; Windows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91640"/>
            <a:ext cx="4053535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46888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TEAM COGNOVAX</a:t>
            </a:r>
          </a:p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  <a:latin typeface="Segoe UI"/>
              </a:defRPr>
            </a:pPr>
            <a:r>
              <a:t>TEAM ID: 162623</a:t>
            </a:r>
          </a:p>
          <a:p>
            <a:pPr algn="ctr">
              <a:spcAft>
                <a:spcPts val="10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Autonomous Telemetry &amp; Blockchain Correlation Intelligence Workstation</a:t>
            </a:r>
          </a:p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✔ WORKING PROTOTYPE VERIFIED  •  36/36 TESTS PASSED</a:t>
            </a:r>
          </a:p>
        </p:txBody>
      </p:sp>
      <p:pic>
        <p:nvPicPr>
          <p:cNvPr id="8" name="Picture 7" descr="cognovax_emble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74519"/>
            <a:ext cx="2221992" cy="22219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@SIH Idea submission  |  Problem Statement: SIH26146 (NTRO)  |  Team COGNOVAX (Team ID: 162623)                                                                                  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COGNOVAX  |  TEAM ID: 162623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PROPOSED SOLUTION: AIR-GAPPED FORENSIC WORKSTATION</a:t>
            </a:r>
          </a:p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End-to-End Bitcoin Telemetry Ingestion, Dynamic Graph Topology &amp; Explainable AI/ML Lead Ranking</a:t>
            </a:r>
          </a:p>
        </p:txBody>
      </p:sp>
      <p:pic>
        <p:nvPicPr>
          <p:cNvPr id="5" name="Picture 4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92608"/>
            <a:ext cx="1856231" cy="8778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43584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015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8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[01]  AIR-GAPPED TELEMETRY INGESTION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Ingests bulk network observations in CSV, JSON/JSONL, and XML formats.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Pydantic v2 strict contract validation; rejects malformed &amp; negative records.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Integrated offline Geo-IP, ASN, &amp; RFC 1918 database for local attribution.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100% offline air-gapped Linux operation with zero remote socket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015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8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[02]  MULTI-SIGNAL CORRELATION ENGINE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Fuses IP P2P telemetry with on-chain Bitcoin transaction IDs.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Multi-factor proximity: Exact TXID + ±60s temporal window + repeated IP.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Calculates mathematical correlation confidence scoring (0.0 to 1.0).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Full forensic provenance audit trail linking every record to source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015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800"/>
              </a:spcAft>
              <a:defRPr sz="1050" b="1">
                <a:solidFill>
                  <a:srgbClr val="7C3AED"/>
                </a:solidFill>
                <a:latin typeface="Segoe UI"/>
              </a:defRPr>
            </a:pPr>
            <a:r>
              <a:t>[03]  DYNAMIC TOPOLOGY GRAPH STUDIO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Typed NetworkX multi-directed graph (IP, TX, Wallet entity nodes).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Common-input co-spending heuristic clustering identifying single-owner wallets.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4 Interactive layouts: Physics engine, Hierarchical flow, Radial, and Timeline.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Shortest-path route tracing, subgraphs, and incremental 1-hop ego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015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8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[04]  DUAL-STAGE AI/ML ANOMALY ENGINE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Stage 1: Isolation Forest for continuous unsupervised outlier discovery.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Stage 2: Supervised Random Forest trained across 16 forensic typologies.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Detects peeling chains, micro-bursts, mixing pool hops, and geo-hopping.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0% False Positive Rate verified on benign exchange &amp; mining pool sweeps.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4015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8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[05]  EXPLAINABLE RANKED LEADS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Separates Anomaly Score, Confidence, and Priority Score mathematically.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Prioritized investigative queues: CRITICAL, HIGH, MEDIUM, and LOW tiers.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Multi-factor plain-language narratives explaining 'Why Target Was Flagged'.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Generates actionable intelligence leads without unsupported guilt claims.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31920"/>
            <a:ext cx="34015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8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[06]  CHAIN-OF-CUSTODY &amp; TAINT ENGINE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1-Click court-admissible forensic bundle (.zip) with SHA256SUMS.txt manifest.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Multi-hop fund taint propagation engine (Haircut/Poison model) tracking dirty flows.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Interactive Chrono-Player dock replaying transaction flow sequentially in time-lapse.</a:t>
            </a:r>
          </a:p>
          <a:p>
            <a:pPr algn="l">
              <a:spcAft>
                <a:spcPts val="35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 Dual investigative dossiers (.txt / .json) + toner-optimized multi-page print 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@SIH Idea submission  |  Problem Statement: SIH26146 (NTRO)  |  Team COGNOVAX (Team ID: 162623)                                                                                 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COGNOVAX  |  TEAM ID: 162623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TECHNICAL APPROACH &amp; SYSTEM ARCHITECTURE</a:t>
            </a:r>
          </a:p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High-Throughput Modular Architecture: Ingestion → Correlation → Graph → AI/ML → Custody</a:t>
            </a:r>
          </a:p>
        </p:txBody>
      </p:sp>
      <p:pic>
        <p:nvPicPr>
          <p:cNvPr id="5" name="Picture 4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92608"/>
            <a:ext cx="1856231" cy="8778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43584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_diagram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977639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937760" y="1371600"/>
            <a:ext cx="6492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sz="1050" b="1">
                <a:solidFill>
                  <a:srgbClr val="0284C7"/>
                </a:solidFill>
                <a:latin typeface="Segoe UI"/>
              </a:defRPr>
            </a:pPr>
            <a:r>
              <a:t>PILLAR 1 — FRONTEND &amp; TOPOLOGY STUDIO</a:t>
            </a:r>
          </a:p>
          <a:p>
            <a:pPr algn="l">
              <a:spcAft>
                <a:spcPts val="3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Vanilla ES6+ Canvas  •  Zero Remote CDNs  •  Interactive Chrono-Player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Tactical dark HUD console built on native HTML5/ES6+ canvas; dynamic force-directed, hierarchical flow, radial, and timeline graph modes; interactive time-lapse playback dock; fluid responsive CSS scaling from 50% to 200% zoom.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624328"/>
            <a:ext cx="6492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PILLAR 2 — BACKEND &amp; CORRELATION ENGINE</a:t>
            </a:r>
          </a:p>
          <a:p>
            <a:pPr algn="l">
              <a:spcAft>
                <a:spcPts val="3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Python 3.12+  •  FastAPI Microservice  •  Local Geo-IP &amp; ASN Database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Ultra-fast asynchronous REST API; multi-signal broadcast proximity fusing within ±60s window; RFC 1918 private subnet classification; proactive overwrite confirmation modal; 1-click active dataset download.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3877056"/>
            <a:ext cx="6492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sz="1050" b="1">
                <a:solidFill>
                  <a:srgbClr val="7C3AED"/>
                </a:solidFill>
                <a:latin typeface="Segoe UI"/>
              </a:defRPr>
            </a:pPr>
            <a:r>
              <a:t>PILLAR 3 — ENTITY GRAPH &amp; CLUSTERING</a:t>
            </a:r>
          </a:p>
          <a:p>
            <a:pPr algn="l">
              <a:spcAft>
                <a:spcPts val="3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NetworkX Multi-Directed Graph  •  Common-Input Co-Spending Heuristics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Typed multi-directed entity graph (IP, TX, Wallet); common-spending heuristic clustering identifying single-owner wallet clusters; sub-millisecond in-memory shortest path algorithms and ego-graph extraction.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129784"/>
            <a:ext cx="6492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sz="1050" b="1">
                <a:solidFill>
                  <a:srgbClr val="D97706"/>
                </a:solidFill>
                <a:latin typeface="Segoe UI"/>
              </a:defRPr>
            </a:pPr>
            <a:r>
              <a:t>PILLAR 4 — DUAL-STAGE AI/ML &amp; COURT-ADMISSIBLE CUSTODY</a:t>
            </a:r>
          </a:p>
          <a:p>
            <a:pPr algn="l">
              <a:spcAft>
                <a:spcPts val="3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Isolation Forest  •  Random Forest  •  Multi-Hop Haircut Taint  •  SHA-256 Bundle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Dual-stage ML extracting 16 forensic features; Haircut fund taint propagation engine; plain-language evidence synthesis; cryptographically sealed Chain-of-Custody package (.zip with SHA256SUMS and audit certificate).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@SIH Idea submission  |  Problem Statement: SIH26146 (NTRO)  |  Team COGNOVAX (Team ID: 162623)                                                                                 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COGNOVAX  |  TEAM ID: 162623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FEASIBILITY, USABILITY, SCALABILITY &amp; RISK MITIGATION</a:t>
            </a:r>
          </a:p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Operational Viability, Deployment Readiness, and Systematic Risk Mitigation Matrix</a:t>
            </a:r>
          </a:p>
        </p:txBody>
      </p:sp>
      <p:pic>
        <p:nvPicPr>
          <p:cNvPr id="5" name="Picture 4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92608"/>
            <a:ext cx="1856231" cy="8778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43584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303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spcAft>
                <a:spcPts val="600"/>
              </a:spcAft>
              <a:defRPr sz="1150" b="1">
                <a:solidFill>
                  <a:srgbClr val="0284C7"/>
                </a:solidFill>
                <a:latin typeface="Segoe UI"/>
              </a:defRPr>
            </a:pPr>
            <a:r>
              <a:t>FEASIBILITY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100% Offline Air-Gapped Execution: Validated with zero socket leakage; operates entirely offline.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Working Prototype Operational: Pipeline verified with 36 automated unit &amp; integration tests passing.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Zero Licensing Cost: Built 100% on open-source Python, FastAPI, and NetworkX—no proprietary fees.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Low Commodity Hardware Footprint: Runs efficiently on standard field laptops without GPU servers.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Cross-Platform Compatibility: Fully operable on offline Linux (Ubuntu/Debian/RHEL) and Windows.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417320"/>
            <a:ext cx="52303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spcAft>
                <a:spcPts val="600"/>
              </a:spcAft>
              <a:defRPr sz="1150" b="1">
                <a:solidFill>
                  <a:srgbClr val="10B981"/>
                </a:solidFill>
                <a:latin typeface="Segoe UI"/>
              </a:defRPr>
            </a:pPr>
            <a:r>
              <a:t>USABILITY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Investigator-Centric HUD: Tactical dark console with Tri-Gauge risk visualization (Anomaly, Confidence, Priority).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Proactive Overwrite Protection: Interactive modal prevents accidental data loss during file uploads.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Dynamic Graph Route Tracing: Shortest-path route finding and 1-hop ego-graph expansion for rapid analysis.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Accessible Multi-Format Reporting: Dual dossier downloads (.txt / .json) plus toner-optimized multi-page printing.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Resilient Fluid Layout: Auto-fit fluid UI adapting dynamically from 50% to 200% zoom across any screen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303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spcAft>
                <a:spcPts val="6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RISK MITIGATION MATRIX</a:t>
            </a:r>
          </a:p>
          <a:p>
            <a:pPr algn="l"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Segoe UI"/>
              </a:rPr>
              <a:t>•  Air-gap blocks online IP queries:  </a:t>
            </a:r>
            <a:r>
              <a:rPr sz="880">
                <a:solidFill>
                  <a:srgbClr val="D97706"/>
                </a:solidFill>
                <a:latin typeface="Segoe UI"/>
              </a:rPr>
              <a:t>→ Integrated local Geo-IP, ASN, &amp; RFC 1918 database</a:t>
            </a:r>
          </a:p>
          <a:p>
            <a:pPr algn="l"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Segoe UI"/>
              </a:rPr>
              <a:t>•  Lack of real seized law enforcement data:  </a:t>
            </a:r>
            <a:r>
              <a:rPr sz="880">
                <a:solidFill>
                  <a:srgbClr val="D97706"/>
                </a:solidFill>
                <a:latin typeface="Segoe UI"/>
              </a:rPr>
              <a:t>→ Deterministic 10K benchmark modeling real laundering typologies</a:t>
            </a:r>
          </a:p>
          <a:p>
            <a:pPr algn="l"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Segoe UI"/>
              </a:rPr>
              <a:t>•  Exchange wallets trigger false alerts:  </a:t>
            </a:r>
            <a:r>
              <a:rPr sz="880">
                <a:solidFill>
                  <a:srgbClr val="D97706"/>
                </a:solidFill>
                <a:latin typeface="Segoe UI"/>
              </a:rPr>
              <a:t>→ Dual AI/ML tuned to filter exchange &amp; pool sweeps (0% FPR)</a:t>
            </a:r>
          </a:p>
          <a:p>
            <a:pPr algn="l"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Segoe UI"/>
              </a:rPr>
              <a:t>•  Black-box AI produces untrusted flags:  </a:t>
            </a:r>
            <a:r>
              <a:rPr sz="880">
                <a:solidFill>
                  <a:srgbClr val="D97706"/>
                </a:solidFill>
                <a:latin typeface="Segoe UI"/>
              </a:rPr>
              <a:t>→ Plain-language evidence narrative + full provenance row audit</a:t>
            </a:r>
          </a:p>
          <a:p>
            <a:pPr algn="l"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Segoe UI"/>
              </a:rPr>
              <a:t>•  Digital evidence inadmissible in court:  </a:t>
            </a:r>
            <a:r>
              <a:rPr sz="880">
                <a:solidFill>
                  <a:srgbClr val="D97706"/>
                </a:solidFill>
                <a:latin typeface="Segoe UI"/>
              </a:rPr>
              <a:t>→ Automated Chain-of-Custody package with SHA-256 seal manifest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3931920"/>
            <a:ext cx="523036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spcAft>
                <a:spcPts val="600"/>
              </a:spcAft>
              <a:defRPr sz="1150" b="1">
                <a:solidFill>
                  <a:srgbClr val="7C3AED"/>
                </a:solidFill>
                <a:latin typeface="Segoe UI"/>
              </a:defRPr>
            </a:pPr>
            <a:r>
              <a:t>SCALABILITY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Industrial Benchmark Tested: Validated across 10,250 records, 900+ wallets, and 1,000+ Bitcoin transactions.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100% Top-K Precision Verified: Achieved P@3, P@5, P@10 = 1.0000 and 0.9944 ROC-AUC against blind ground truth.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Decoupled Modular Architecture: Ingestion, graph building, and ML inference run as independent parallel stages.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Dirty Data Resilience: Gracefully absorbs malformed records, out-of-order timestamps, and duplicate packets.</a:t>
            </a:r>
          </a:p>
          <a:p>
            <a:pPr algn="l">
              <a:spcAft>
                <a:spcPts val="350"/>
              </a:spcAft>
              <a:defRPr sz="880">
                <a:solidFill>
                  <a:srgbClr val="1E293B"/>
                </a:solidFill>
                <a:latin typeface="Segoe UI"/>
              </a:defRPr>
            </a:pPr>
            <a:r>
              <a:t>•  Microsecond Graph Latency: In-memory NetworkX multi-directed graph yields instant sub-millisecond queries.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@SIH Idea submission  |  Problem Statement: SIH26146 (NTRO)  |  Team COGNOVAX (Team ID: 162623)                                                                                 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COGNOVAX  |  TEAM ID: 162623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IMPACT, BENEFITS &amp; NATIONAL SECURITY VALUE</a:t>
            </a:r>
          </a:p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Operational Value for NTRO, FIU-IND, Law Enforcement, and Sovereign Cyber Defense</a:t>
            </a:r>
          </a:p>
        </p:txBody>
      </p:sp>
      <p:pic>
        <p:nvPicPr>
          <p:cNvPr id="5" name="Picture 4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92608"/>
            <a:ext cx="1856231" cy="8778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43584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pact_benefits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53312"/>
            <a:ext cx="6309360" cy="3611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353312"/>
            <a:ext cx="4236415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l">
              <a:spcAft>
                <a:spcPts val="6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BENCHMARK METRICS &amp; VALIDATION SCORECARD</a:t>
            </a:r>
          </a:p>
          <a:p>
            <a:pPr algn="l"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Segoe UI"/>
              </a:rPr>
              <a:t>✔ 100% Top-K Precision:  </a:t>
            </a:r>
            <a:r>
              <a:rPr sz="850">
                <a:solidFill>
                  <a:srgbClr val="1E293B"/>
                </a:solidFill>
                <a:latin typeface="Segoe UI"/>
              </a:rPr>
              <a:t>P@3, P@5, P@10 = 1.0000 on hidden holdout benchmark</a:t>
            </a:r>
          </a:p>
          <a:p>
            <a:pPr algn="l"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Segoe UI"/>
              </a:rPr>
              <a:t>✔ 0.9944 ROC-AUC:  </a:t>
            </a:r>
            <a:r>
              <a:rPr sz="850">
                <a:solidFill>
                  <a:srgbClr val="1E293B"/>
                </a:solidFill>
                <a:latin typeface="Segoe UI"/>
              </a:rPr>
              <a:t>Dual-stage Supervised Random Forest fraud classifier</a:t>
            </a:r>
          </a:p>
          <a:p>
            <a:pPr algn="l"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Segoe UI"/>
              </a:rPr>
              <a:t>✔ 120 tx/hr Velocity:  </a:t>
            </a:r>
            <a:r>
              <a:rPr sz="850">
                <a:solidFill>
                  <a:srgbClr val="1E293B"/>
                </a:solidFill>
                <a:latin typeface="Segoe UI"/>
              </a:rPr>
              <a:t>Detects rapid peeling chains &amp; automated laundering bots</a:t>
            </a:r>
          </a:p>
          <a:p>
            <a:pPr algn="l"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Segoe UI"/>
              </a:rPr>
              <a:t>✔ 0% False Alarm Rate:  </a:t>
            </a:r>
            <a:r>
              <a:rPr sz="850">
                <a:solidFill>
                  <a:srgbClr val="1E293B"/>
                </a:solidFill>
                <a:latin typeface="Segoe UI"/>
              </a:rPr>
              <a:t>Zero false positives on high-volume exchange &amp; mining sweeps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520440"/>
            <a:ext cx="4236415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l">
              <a:spcAft>
                <a:spcPts val="4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STRATEGIC IMPACT FOR NATIONAL SECURITY</a:t>
            </a:r>
          </a:p>
          <a:p>
            <a:pPr algn="l">
              <a:spcAft>
                <a:spcPts val="2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•  Ransomware &amp; Darknet Interdiction: Rapidly de-anonymizes cyber extortion conduits.</a:t>
            </a:r>
          </a:p>
          <a:p>
            <a:pPr algn="l">
              <a:spcAft>
                <a:spcPts val="2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•  Terror Financing Disruption: Tracks multi-country fast-hopping wallet clusters.</a:t>
            </a:r>
          </a:p>
          <a:p>
            <a:pPr algn="l">
              <a:spcAft>
                <a:spcPts val="2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•  Sovereign Air-Gap Security: Zero remote leaks; classified intelligence stays offline.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COURT-ADMISSIBLE FORENSIC EVIDENCE BUNDLE (.ZIP WITH SHA256SUMS)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Digital evidence without unbroken Chain-of-Custody is inadmissible in legal prosecution. COGNOVAX generates an automated 1-click evidence package containing raw ingested telemetry, SHA-256 hash manifests, investigative dossiers, case JSON files, and cryptographically signed audit certificates—providing verifiable proof of multi-hop fund taint and P2P broadcast attribution compliant with Indian Evidence Act digital forensic standards.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@SIH Idea submission  |  Problem Statement: SIH26146 (NTRO)  |  Team COGNOVAX (Team ID: 162623)                                                                                 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COGNOVAX  |  TEAM ID: 162623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RESEARCH, STANDARDS &amp; AUTHORITATIVE CITATIONS</a:t>
            </a:r>
          </a:p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Peer-Reviewed Academic Literature, Digital Forensic Standards, and Prototype Evidence Link</a:t>
            </a:r>
          </a:p>
        </p:txBody>
      </p:sp>
      <p:pic>
        <p:nvPicPr>
          <p:cNvPr id="5" name="Picture 4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92608"/>
            <a:ext cx="1856231" cy="8778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43584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30368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1000"/>
              </a:spcAft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CRYPTOGRAPHIC &amp; NETWORK FORENSIC FOUNDATIONS</a:t>
            </a:r>
          </a:p>
          <a:p>
            <a:pPr algn="l">
              <a:defRPr sz="850" b="1">
                <a:solidFill>
                  <a:srgbClr val="0284C7"/>
                </a:solidFill>
                <a:latin typeface="Segoe UI"/>
              </a:defRPr>
            </a:pPr>
            <a:r>
              <a:t>[FOUNDATIONAL UTXO LEDGER]</a:t>
            </a:r>
          </a:p>
          <a:p>
            <a:pPr algn="l">
              <a:defRPr sz="950" b="1">
                <a:solidFill>
                  <a:srgbClr val="0F172A"/>
                </a:solidFill>
                <a:latin typeface="Segoe UI"/>
              </a:defRPr>
            </a:pPr>
            <a:r>
              <a:t>Nakamoto, S. (2008). "Bitcoin: A Peer-to-Peer Electronic Cash System."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Core architectural reference for the unspent transaction output (UTXO) accounting model, asymmetric cryptographic signature verification, and decentralized peer gossip broadcast protocol.</a:t>
            </a:r>
          </a:p>
          <a:p>
            <a:pPr algn="l"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Reference: https://bitcoin.org/bitcoin.pdf</a:t>
            </a:r>
          </a:p>
          <a:p>
            <a:pPr algn="l">
              <a:defRPr sz="850" b="1">
                <a:solidFill>
                  <a:srgbClr val="10B981"/>
                </a:solidFill>
                <a:latin typeface="Segoe UI"/>
              </a:defRPr>
            </a:pPr>
            <a:r>
              <a:t>[P2P NETWORK FORENSICS &amp; DEANONYMIZATION]</a:t>
            </a:r>
          </a:p>
          <a:p>
            <a:pPr algn="l">
              <a:defRPr sz="950" b="1">
                <a:solidFill>
                  <a:srgbClr val="0F172A"/>
                </a:solidFill>
                <a:latin typeface="Segoe UI"/>
              </a:defRPr>
            </a:pPr>
            <a:r>
              <a:t>Biryukov, A., Khovratovich, D., &amp; Pustogarov, I. (IEEE S&amp;P, Univ. of Luxembourg)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"Deanonymisation of Clients in Bitcoin P2P Network via Transaction Broadcast Traffic Analysis." Formulates the mathematical framework correlating transaction broadcast delays and originator IP addresses.</a:t>
            </a:r>
          </a:p>
          <a:p>
            <a:pPr algn="l"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DOI: https://doi.org/10.1109/SP.2014.12</a:t>
            </a:r>
          </a:p>
          <a:p>
            <a:pPr algn="l">
              <a:defRPr sz="850" b="1">
                <a:solidFill>
                  <a:srgbClr val="7C3AED"/>
                </a:solidFill>
                <a:latin typeface="Segoe UI"/>
              </a:defRPr>
            </a:pPr>
            <a:r>
              <a:t>[WALLET CLUSTERING HEURISTICS]</a:t>
            </a:r>
          </a:p>
          <a:p>
            <a:pPr algn="l">
              <a:defRPr sz="950" b="1">
                <a:solidFill>
                  <a:srgbClr val="0F172A"/>
                </a:solidFill>
                <a:latin typeface="Segoe UI"/>
              </a:defRPr>
            </a:pPr>
            <a:r>
              <a:t>Meiklejohn, S., Pomarole, M., Jordan, A., et al. (ACM IMC, UC San Diego)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"A Fistful of Bitcoins: Characterizing Payments Among Men with No Names." Foundational multi-input common-spending heuristic clustering algorithms for grouping pseudonymous addresses into entity-controlled wallets.</a:t>
            </a:r>
          </a:p>
          <a:p>
            <a:pPr algn="l"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DOI: https://doi.org/10.1145/2504730.2504747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371600"/>
            <a:ext cx="5230368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10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REGULATORY STANDARDS, GRAPH ML &amp; PROTOTYPE</a:t>
            </a:r>
          </a:p>
          <a:p>
            <a:pPr algn="l">
              <a:defRPr sz="850" b="1">
                <a:solidFill>
                  <a:srgbClr val="D97706"/>
                </a:solidFill>
                <a:latin typeface="Segoe UI"/>
              </a:defRPr>
            </a:pPr>
            <a:r>
              <a:t>[REGULATORY AML COMPLIANCE]</a:t>
            </a:r>
          </a:p>
          <a:p>
            <a:pPr algn="l">
              <a:defRPr sz="950" b="1">
                <a:solidFill>
                  <a:srgbClr val="0F172A"/>
                </a:solidFill>
                <a:latin typeface="Segoe UI"/>
              </a:defRPr>
            </a:pPr>
            <a:r>
              <a:t>Financial Action Task Force (FATF, 2023).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"Updated Guidance for a Risk-Based Approach to Virtual Assets and VASPs." International regulatory benchmarks for cryptocurrency red flag indicators, peeling chains, mixer evasion, and laundering typologies.</a:t>
            </a:r>
          </a:p>
          <a:p>
            <a:pPr algn="l"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Official Standards: https://www.fatf-gafi.org/</a:t>
            </a:r>
          </a:p>
          <a:p>
            <a:pPr algn="l">
              <a:defRPr sz="850" b="1">
                <a:solidFill>
                  <a:srgbClr val="7C3AED"/>
                </a:solidFill>
                <a:latin typeface="Segoe UI"/>
              </a:defRPr>
            </a:pPr>
            <a:r>
              <a:t>[GRAPH ML &amp; TAINT PROPAGATION]</a:t>
            </a:r>
          </a:p>
          <a:p>
            <a:pPr algn="l">
              <a:defRPr sz="950" b="1">
                <a:solidFill>
                  <a:srgbClr val="0F172A"/>
                </a:solidFill>
                <a:latin typeface="Segoe UI"/>
              </a:defRPr>
            </a:pPr>
            <a:r>
              <a:t>Liu, X., Bano, S., &amp; Hurley, J. (IEEE Trans. Information Forensics &amp; Security)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"Graph-Based Cryptocurrency Transaction Tracking and Money Laundering Detection." Directed multigraph methodologies for algorithmic fund flow tracking and multi-hop taint propagation (Haircut / Poison models).</a:t>
            </a:r>
          </a:p>
          <a:p>
            <a:pPr algn="l"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DOI: https://doi.org/10.1109/TIFS.2021.3060000</a:t>
            </a:r>
          </a:p>
          <a:p>
            <a:pPr algn="l">
              <a:defRPr sz="850" b="1">
                <a:solidFill>
                  <a:srgbClr val="0284C7"/>
                </a:solidFill>
                <a:latin typeface="Segoe UI"/>
              </a:defRPr>
            </a:pPr>
            <a:r>
              <a:t>[GOVERNMENT MANDATE &amp; WORKING PROTOTYPE]</a:t>
            </a:r>
          </a:p>
          <a:p>
            <a:pPr algn="l">
              <a:defRPr sz="950" b="1">
                <a:solidFill>
                  <a:srgbClr val="0F172A"/>
                </a:solidFill>
                <a:latin typeface="Segoe UI"/>
              </a:defRPr>
            </a:pPr>
            <a:r>
              <a:t>NTRO / SIH 2026 Problem Statement SIH26146 &amp; Team COGNOVAX</a:t>
            </a:r>
          </a:p>
          <a:p>
            <a:pPr algn="l">
              <a:defRPr sz="850">
                <a:solidFill>
                  <a:srgbClr val="1E293B"/>
                </a:solidFill>
                <a:latin typeface="Segoe UI"/>
              </a:defRPr>
            </a:pPr>
            <a:r>
              <a:t>Fully operational offline forensic intelligence workstation with 36/36 automated unit &amp; integration tests passing, 10,250-record validation benchmark (P@3/5/10 = 1.0000, 0.9944 ROC-AUC), and court-admissible evidence exports.</a:t>
            </a:r>
          </a:p>
          <a:p>
            <a:pPr algn="l"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Demonstration Video: https://youtu.be/sih26146_cognovax_demo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@SIH Idea submission  |  Problem Statement: SIH26146 (NTRO)  |  Team COGNOVAX (Team ID: 162623)                                                                                 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